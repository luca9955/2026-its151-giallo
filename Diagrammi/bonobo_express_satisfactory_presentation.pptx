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A9549"/>
                </a:solidFill>
                <a:latin typeface="Consolas"/>
              </a:defRPr>
            </a:pPr>
            <a:r>
              <a:t>FICSIT PROPERTY - DO NOT DUPLICATE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37160" cy="4114800"/>
          </a:xfrm>
          <a:prstGeom prst="rect">
            <a:avLst/>
          </a:prstGeom>
          <a:solidFill>
            <a:srgbClr val="FA9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2926080" cy="365760"/>
          </a:xfrm>
          <a:prstGeom prst="rect">
            <a:avLst/>
          </a:prstGeom>
          <a:solidFill>
            <a:srgbClr val="65A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STRETTAMENTE CONFIDENZIALE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A9549"/>
                </a:solidFill>
                <a:latin typeface="Trebuchet MS"/>
              </a:defRPr>
            </a:pPr>
            <a:r>
              <a:t>BONOBO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F668C"/>
                </a:solidFill>
                <a:latin typeface="Consolas"/>
              </a:defRPr>
            </a:pPr>
            <a:r>
              <a:t>Settore Culinario - Automazione Gastronomica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1D1D1"/>
                </a:solidFill>
                <a:latin typeface="Trebuchet MS"/>
              </a:defRPr>
            </a:pPr>
            <a:r>
              <a:t>Pianificazione e Sviluppo del Hub di Ristoro Automatizzato</a:t>
            </a:r>
            <a:br/>
            <a:r>
              <a:t>Basato sulle direttive FICSIT MASSAGE-2(AB)b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A9549"/>
                </a:solidFill>
                <a:latin typeface="Consolas"/>
              </a:defRPr>
            </a:pPr>
            <a:r>
              <a:t>FICSIT PROPERTY - DO NOT DUPLICATE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A9549"/>
                </a:solidFill>
                <a:latin typeface="Trebuchet MS"/>
              </a:defRPr>
            </a:pPr>
            <a:r>
              <a:t>UNITÀ OPERATIVA PIONEER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5F6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914400"/>
          </a:xfrm>
          <a:prstGeom prst="rect">
            <a:avLst/>
          </a:prstGeom>
          <a:solidFill>
            <a:srgbClr val="FA9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A9549"/>
                </a:solidFill>
                <a:latin typeface="Trebuchet MS"/>
              </a:defRPr>
            </a:pPr>
            <a:r>
              <a:t>Luca Traverso</a:t>
            </a:r>
          </a:p>
          <a:p>
            <a:pPr>
              <a:defRPr sz="1500">
                <a:solidFill>
                  <a:srgbClr val="D1D1D1"/>
                </a:solidFill>
                <a:latin typeface="Consolas"/>
              </a:defRPr>
            </a:pPr>
            <a:r>
              <a:t>Scrum Master | Architetto Database Risorse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71800"/>
            <a:ext cx="10698480" cy="9144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71800"/>
            <a:ext cx="73152" cy="914400"/>
          </a:xfrm>
          <a:prstGeom prst="rect">
            <a:avLst/>
          </a:prstGeom>
          <a:solidFill>
            <a:srgbClr val="FA9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A9549"/>
                </a:solidFill>
                <a:latin typeface="Trebuchet MS"/>
              </a:defRPr>
            </a:pPr>
            <a:r>
              <a:t>Enrico Botto</a:t>
            </a:r>
          </a:p>
          <a:p>
            <a:pPr>
              <a:defRPr sz="1500">
                <a:solidFill>
                  <a:srgbClr val="D1D1D1"/>
                </a:solidFill>
                <a:latin typeface="Consolas"/>
              </a:defRPr>
            </a:pPr>
            <a:r>
              <a:t>Lead Analysis | Controllo Qualità &amp; Protocolli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73152" cy="914400"/>
          </a:xfrm>
          <a:prstGeom prst="rect">
            <a:avLst/>
          </a:prstGeom>
          <a:solidFill>
            <a:srgbClr val="FA9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A9549"/>
                </a:solidFill>
                <a:latin typeface="Trebuchet MS"/>
              </a:defRPr>
            </a:pPr>
            <a:r>
              <a:t>Matteo Giunta</a:t>
            </a:r>
          </a:p>
          <a:p>
            <a:pPr>
              <a:defRPr sz="1500">
                <a:solidFill>
                  <a:srgbClr val="D1D1D1"/>
                </a:solidFill>
                <a:latin typeface="Consolas"/>
              </a:defRPr>
            </a:pPr>
            <a:r>
              <a:t>Ingegnere Web | Integrazione Terminale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257800"/>
            <a:ext cx="10698480" cy="9144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257800"/>
            <a:ext cx="73152" cy="914400"/>
          </a:xfrm>
          <a:prstGeom prst="rect">
            <a:avLst/>
          </a:prstGeom>
          <a:solidFill>
            <a:srgbClr val="FA9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49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A9549"/>
                </a:solidFill>
                <a:latin typeface="Trebuchet MS"/>
              </a:defRPr>
            </a:pPr>
            <a:r>
              <a:t>Alessandro Vecchio</a:t>
            </a:r>
          </a:p>
          <a:p>
            <a:pPr>
              <a:defRPr sz="1500">
                <a:solidFill>
                  <a:srgbClr val="D1D1D1"/>
                </a:solidFill>
                <a:latin typeface="Consolas"/>
              </a:defRPr>
            </a:pPr>
            <a:r>
              <a:t>Progettazione Sistemi | Documentazione Tecnica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A9549"/>
                </a:solidFill>
                <a:latin typeface="Consolas"/>
              </a:defRPr>
            </a:pPr>
            <a:r>
              <a:t>FICSIT PROPERTY - DO NOT DUPLICATE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A9549"/>
                </a:solidFill>
                <a:latin typeface="Trebuchet MS"/>
              </a:defRPr>
            </a:pPr>
            <a:r>
              <a:t>DIRETTIVE DI PROGETTO: IL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5F6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029200" cy="3931920"/>
          </a:xfrm>
          <a:prstGeom prst="rect">
            <a:avLst/>
          </a:prstGeom>
          <a:solidFill>
            <a:srgbClr val="252525"/>
          </a:solidFill>
          <a:ln w="19050">
            <a:solidFill>
              <a:srgbClr val="5F6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65AECE"/>
                </a:solidFill>
                <a:latin typeface="Trebuchet MS"/>
              </a:defRPr>
            </a:pPr>
            <a:r>
              <a:t>Efficienza Culinaria</a:t>
            </a:r>
          </a:p>
          <a:p>
            <a:pPr>
              <a:defRPr sz="1800">
                <a:solidFill>
                  <a:srgbClr val="FEFEFE"/>
                </a:solidFill>
                <a:latin typeface="Trebuchet MS"/>
              </a:defRPr>
            </a:pPr>
            <a:r>
              <a:t>La missione è integrare l'estetica industriale di Satisfactory in un'esperienza di ristorazione futuristica e perfettamente pianificata.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212080" cy="3931920"/>
          </a:xfrm>
          <a:prstGeom prst="rect">
            <a:avLst/>
          </a:prstGeom>
          <a:solidFill>
            <a:srgbClr val="0F0F0F"/>
          </a:solidFill>
          <a:ln w="19050">
            <a:solidFill>
              <a:srgbClr val="FA9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FA9549"/>
                </a:solidFill>
                <a:latin typeface="Consolas"/>
              </a:defRPr>
            </a:pPr>
            <a:r>
              <a:t>&gt; Ordini via Terminale FICSIT</a:t>
            </a:r>
          </a:p>
          <a:p>
            <a:pPr>
              <a:spcAft>
                <a:spcPts val="1500"/>
              </a:spcAft>
              <a:defRPr sz="1600">
                <a:solidFill>
                  <a:srgbClr val="65AECE"/>
                </a:solidFill>
                <a:latin typeface="Consolas"/>
              </a:defRPr>
            </a:pPr>
            <a:r>
              <a:t>&gt; Consegna tramite Nastro Trasportatore MK.5</a:t>
            </a:r>
          </a:p>
          <a:p>
            <a:pPr>
              <a:spcAft>
                <a:spcPts val="1500"/>
              </a:spcAft>
              <a:defRPr sz="1600">
                <a:solidFill>
                  <a:srgbClr val="FA9549"/>
                </a:solidFill>
                <a:latin typeface="Consolas"/>
              </a:defRPr>
            </a:pPr>
            <a:r>
              <a:t>&gt; Atmosfera di aliena efficienza aziendale</a:t>
            </a:r>
          </a:p>
          <a:p>
            <a:pPr>
              <a:spcAft>
                <a:spcPts val="1500"/>
              </a:spcAft>
              <a:defRPr sz="1600">
                <a:solidFill>
                  <a:srgbClr val="65AECE"/>
                </a:solidFill>
                <a:latin typeface="Consolas"/>
              </a:defRPr>
            </a:pPr>
            <a:r>
              <a:t>&gt; Massimizzazione del rendimento calorico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A9549"/>
                </a:solidFill>
                <a:latin typeface="Consolas"/>
              </a:defRPr>
            </a:pPr>
            <a:r>
              <a:t>FICSIT PROPERTY - DO NOT DUPLICATE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A9549"/>
                </a:solidFill>
                <a:latin typeface="Trebuchet MS"/>
              </a:defRPr>
            </a:pPr>
            <a:r>
              <a:t>PIPELINE DI SVILUPPO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5F6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383280" cy="34747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3383280" cy="137160"/>
          </a:xfrm>
          <a:prstGeom prst="rect">
            <a:avLst/>
          </a:prstGeom>
          <a:solidFill>
            <a:srgbClr val="FA9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65AECE"/>
                </a:solidFill>
                <a:latin typeface="Trebuchet MS"/>
              </a:defRPr>
            </a:pPr>
            <a:r>
              <a:t>PROGETTAZIONE</a:t>
            </a:r>
          </a:p>
          <a:p>
            <a:pPr>
              <a:defRPr sz="1600">
                <a:solidFill>
                  <a:srgbClr val="D1D1D1"/>
                </a:solidFill>
                <a:latin typeface="Trebuchet MS"/>
              </a:defRPr>
            </a:pPr>
            <a:r>
              <a:t>Analisi accurata dei requisiti iniziali e definizione dettagliata del data model per la gestione automatizzata di tutti gli ordini.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286000"/>
            <a:ext cx="3383280" cy="34747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3383280" cy="137160"/>
          </a:xfrm>
          <a:prstGeom prst="rect">
            <a:avLst/>
          </a:prstGeom>
          <a:solidFill>
            <a:srgbClr val="FA9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65AECE"/>
                </a:solidFill>
                <a:latin typeface="Trebuchet MS"/>
              </a:defRPr>
            </a:pPr>
            <a:r>
              <a:t>ESECUZIONE</a:t>
            </a:r>
          </a:p>
          <a:p>
            <a:pPr>
              <a:defRPr sz="1600">
                <a:solidFill>
                  <a:srgbClr val="D1D1D1"/>
                </a:solidFill>
                <a:latin typeface="Trebuchet MS"/>
              </a:defRPr>
            </a:pPr>
            <a:r>
              <a:t>Fase di sviluppo individuale e asincrono del codice, ottimizzando i tempi di produzione secondo gli standard aziendali.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286000"/>
            <a:ext cx="3383280" cy="34747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286000"/>
            <a:ext cx="3383280" cy="137160"/>
          </a:xfrm>
          <a:prstGeom prst="rect">
            <a:avLst/>
          </a:prstGeom>
          <a:solidFill>
            <a:srgbClr val="FA9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65AECE"/>
                </a:solidFill>
                <a:latin typeface="Trebuchet MS"/>
              </a:defRPr>
            </a:pPr>
            <a:r>
              <a:t>SINCRONIZZAZIONE</a:t>
            </a:r>
          </a:p>
          <a:p>
            <a:pPr>
              <a:defRPr sz="1600">
                <a:solidFill>
                  <a:srgbClr val="D1D1D1"/>
                </a:solidFill>
                <a:latin typeface="Trebuchet MS"/>
              </a:defRPr>
            </a:pPr>
            <a:r>
              <a:t>Call settimanali di allineamento tattico 'Point-of-Work' per identificare e risolvere tempestivamente i colli di bottiglia.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A9549"/>
                </a:solidFill>
                <a:latin typeface="Consolas"/>
              </a:defRPr>
            </a:pPr>
            <a:r>
              <a:t>FICSIT PROPERTY - DO NOT DUPLICATE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A9549"/>
                </a:solidFill>
                <a:latin typeface="Trebuchet MS"/>
              </a:defRPr>
            </a:pPr>
            <a:r>
              <a:t>PROJECT ASSEMBLY: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5F6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10362895" cy="45720"/>
          </a:xfrm>
          <a:prstGeom prst="rect">
            <a:avLst/>
          </a:prstGeom>
          <a:solidFill>
            <a:srgbClr val="5F6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3120" y="3090672"/>
            <a:ext cx="274320" cy="274320"/>
          </a:xfrm>
          <a:prstGeom prst="ellipse">
            <a:avLst/>
          </a:prstGeom>
          <a:solidFill>
            <a:srgbClr val="FA9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459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5AECE"/>
                </a:solidFill>
                <a:latin typeface="Consolas"/>
              </a:defRPr>
            </a:pPr>
            <a:r>
              <a:t>Settimana 23</a:t>
            </a:r>
          </a:p>
          <a:p>
            <a:pPr algn="ctr">
              <a:defRPr sz="1500">
                <a:solidFill>
                  <a:srgbClr val="FEFEFE"/>
                </a:solidFill>
                <a:latin typeface="Trebuchet MS"/>
              </a:defRPr>
            </a:pPr>
            <a:r>
              <a:t>Analisi &amp; Pianificazione</a:t>
            </a:r>
          </a:p>
        </p:txBody>
      </p:sp>
      <p:sp>
        <p:nvSpPr>
          <p:cNvPr id="9" name="Oval 8"/>
          <p:cNvSpPr/>
          <p:nvPr/>
        </p:nvSpPr>
        <p:spPr>
          <a:xfrm>
            <a:off x="4572000" y="3090672"/>
            <a:ext cx="274320" cy="274320"/>
          </a:xfrm>
          <a:prstGeom prst="ellipse">
            <a:avLst/>
          </a:prstGeom>
          <a:solidFill>
            <a:srgbClr val="FA9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36576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5AECE"/>
                </a:solidFill>
                <a:latin typeface="Consolas"/>
              </a:defRPr>
            </a:pPr>
            <a:r>
              <a:t>Settimana 24</a:t>
            </a:r>
          </a:p>
          <a:p>
            <a:pPr algn="ctr">
              <a:defRPr sz="1500">
                <a:solidFill>
                  <a:srgbClr val="FEFEFE"/>
                </a:solidFill>
                <a:latin typeface="Trebuchet MS"/>
              </a:defRPr>
            </a:pPr>
            <a:r>
              <a:t>Sviluppo Client Side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3090672"/>
            <a:ext cx="274320" cy="274320"/>
          </a:xfrm>
          <a:prstGeom prst="ellipse">
            <a:avLst/>
          </a:prstGeom>
          <a:solidFill>
            <a:srgbClr val="FA9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459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5AECE"/>
                </a:solidFill>
                <a:latin typeface="Consolas"/>
              </a:defRPr>
            </a:pPr>
            <a:r>
              <a:t>Settimana 25</a:t>
            </a:r>
          </a:p>
          <a:p>
            <a:pPr algn="ctr">
              <a:defRPr sz="1500">
                <a:solidFill>
                  <a:srgbClr val="FEFEFE"/>
                </a:solidFill>
                <a:latin typeface="Trebuchet MS"/>
              </a:defRPr>
            </a:pPr>
            <a:r>
              <a:t>DB &amp; Admin Panel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0" y="3090672"/>
            <a:ext cx="274320" cy="274320"/>
          </a:xfrm>
          <a:prstGeom prst="ellipse">
            <a:avLst/>
          </a:prstGeom>
          <a:solidFill>
            <a:srgbClr val="FA9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6576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5AECE"/>
                </a:solidFill>
                <a:latin typeface="Consolas"/>
              </a:defRPr>
            </a:pPr>
            <a:r>
              <a:t>Settimana 26</a:t>
            </a:r>
          </a:p>
          <a:p>
            <a:pPr algn="ctr">
              <a:defRPr sz="1500">
                <a:solidFill>
                  <a:srgbClr val="FEFEFE"/>
                </a:solidFill>
                <a:latin typeface="Trebuchet MS"/>
              </a:defRPr>
            </a:pPr>
            <a:r>
              <a:t>Test &amp;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1D1D1"/>
                </a:solidFill>
                <a:latin typeface="Trebuchet MS"/>
              </a:defRPr>
            </a:pPr>
            <a:r>
              <a:t>Integrazione continua e test di collaudo pianificati per la milestone finale.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400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A9549"/>
                </a:solidFill>
                <a:latin typeface="Consolas"/>
              </a:defRPr>
            </a:pPr>
            <a:r>
              <a:t>FICSIT PROPERTY - DO NOT DUPLICATE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A9549"/>
                </a:solidFill>
                <a:latin typeface="Consolas"/>
              </a:defRPr>
            </a:pPr>
            <a:r>
              <a:t>[ 🗸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A9549"/>
                </a:solidFill>
                <a:latin typeface="Trebuchet MS"/>
              </a:defRPr>
            </a:pPr>
            <a:r>
              <a:t>EFFICIENZA RAGGIUNTA</a:t>
            </a:r>
          </a:p>
          <a:p>
            <a:pPr algn="ctr">
              <a:spcBef>
                <a:spcPts val="1000"/>
              </a:spcBef>
              <a:defRPr sz="2400">
                <a:solidFill>
                  <a:srgbClr val="65AECE"/>
                </a:solidFill>
                <a:latin typeface="Trebuchet MS"/>
              </a:defRPr>
            </a:pPr>
            <a:r>
              <a:t>Bonobo Express: Il Futuro della Ristorazione è Automatizzato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1D1D1"/>
                </a:solidFill>
                <a:latin typeface="Consolas"/>
              </a:defRPr>
            </a:pPr>
            <a:r>
              <a:t>"Costruisci. Ottimizza. Mangia. - FICSIT Inc."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