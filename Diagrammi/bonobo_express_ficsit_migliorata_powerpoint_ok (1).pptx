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1675"/>
  <p:notesSz cx="6858000" cy="12191675"/>
  <p:embeddedFontLst>
    <p:embeddedFont>
      <p:font typeface="Play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cBpQnHfW098Y5wpUXnwKrk9TU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regular.fntdata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0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320040" y="146304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FICSIT PROPERTY - DO NOT DUPLICATE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7315200" y="109728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7A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7A00"/>
                </a:solidFill>
                <a:latin typeface="Arial"/>
                <a:ea typeface="Arial"/>
                <a:cs typeface="Arial"/>
                <a:sym typeface="Arial"/>
              </a:rPr>
              <a:t>PROJECT INITIATION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0652760" y="731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D3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D3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FF7A00"/>
          </a:solidFill>
          <a:ln cap="flat" cmpd="sng" w="12700">
            <a:solidFill>
              <a:srgbClr val="FF7A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457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914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1371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1828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286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27432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32004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36576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41148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45720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5029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5486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5943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6400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6858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73152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77724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82296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86868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91440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9601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10058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10515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10972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"/>
          <p:cNvSpPr/>
          <p:nvPr/>
        </p:nvSpPr>
        <p:spPr>
          <a:xfrm>
            <a:off x="11430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"/>
          <p:cNvSpPr/>
          <p:nvPr/>
        </p:nvSpPr>
        <p:spPr>
          <a:xfrm>
            <a:off x="320040" y="6419088"/>
            <a:ext cx="4114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BONOBO EXPRESS // AUTOMATED FOOD HUB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7452360" y="68580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7A00"/>
              </a:buClr>
              <a:buSzPts val="4300"/>
              <a:buFont typeface="Play"/>
              <a:buNone/>
            </a:pPr>
            <a:r>
              <a:rPr b="1" i="0" lang="en-US" sz="4300" u="none" cap="none" strike="noStrike">
                <a:solidFill>
                  <a:srgbClr val="FF7A00"/>
                </a:solidFill>
                <a:latin typeface="Play"/>
                <a:ea typeface="Play"/>
                <a:cs typeface="Play"/>
                <a:sym typeface="Play"/>
              </a:rPr>
              <a:t>FICSIT</a:t>
            </a:r>
            <a:endParaRPr b="0" i="0" sz="4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713232" y="914400"/>
            <a:ext cx="4160520" cy="237744"/>
          </a:xfrm>
          <a:prstGeom prst="rect">
            <a:avLst/>
          </a:prstGeom>
          <a:solidFill>
            <a:srgbClr val="FFD300"/>
          </a:solidFill>
          <a:ln cap="flat" cmpd="sng" w="9525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SETTORE CULINARIO // AUTOMAZIONE GASTRONOMICA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685800" y="1417320"/>
            <a:ext cx="5806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6000"/>
              <a:buFont typeface="Play"/>
              <a:buNone/>
            </a:pPr>
            <a:r>
              <a:rPr b="1" i="0" lang="en-US" sz="6000" u="none" cap="none" strike="noStrike">
                <a:solidFill>
                  <a:srgbClr val="F3F4ED"/>
                </a:solidFill>
                <a:latin typeface="Play"/>
                <a:ea typeface="Play"/>
                <a:cs typeface="Play"/>
                <a:sym typeface="Play"/>
              </a:rPr>
              <a:t>BONOBO</a:t>
            </a:r>
            <a:endParaRPr b="0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6000"/>
              <a:buFont typeface="Play"/>
              <a:buNone/>
            </a:pPr>
            <a:r>
              <a:rPr b="1" i="0" lang="en-US" sz="6000" u="none" cap="none" strike="noStrike">
                <a:solidFill>
                  <a:srgbClr val="F3F4ED"/>
                </a:solidFill>
                <a:latin typeface="Play"/>
                <a:ea typeface="Play"/>
                <a:cs typeface="Play"/>
                <a:sym typeface="Play"/>
              </a:rPr>
              <a:t>EXPRESS</a:t>
            </a:r>
            <a:endParaRPr b="0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758952" y="3218688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Percorso di analisi, progettazione e sviluppo del sito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758952" y="3977640"/>
            <a:ext cx="5120640" cy="1051560"/>
          </a:xfrm>
          <a:prstGeom prst="rect">
            <a:avLst/>
          </a:prstGeom>
          <a:solidFill>
            <a:srgbClr val="050605"/>
          </a:solidFill>
          <a:ln cap="flat" cmpd="sng" w="12700">
            <a:solidFill>
              <a:srgbClr val="6069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7AC74F"/>
                </a:solidFill>
                <a:latin typeface="Consolas"/>
                <a:ea typeface="Consolas"/>
                <a:cs typeface="Consolas"/>
                <a:sym typeface="Consolas"/>
              </a:rPr>
              <a:t>&gt; STATUS: sito assemblato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7AC74F"/>
                </a:solidFill>
                <a:latin typeface="Consolas"/>
                <a:ea typeface="Consolas"/>
                <a:cs typeface="Consolas"/>
                <a:sym typeface="Consolas"/>
              </a:rPr>
              <a:t>&gt; TARGET: esperienza cliente + controllo admin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7AC74F"/>
                </a:solidFill>
                <a:latin typeface="Consolas"/>
                <a:ea typeface="Consolas"/>
                <a:cs typeface="Consolas"/>
                <a:sym typeface="Consolas"/>
              </a:rPr>
              <a:t>&gt; OUTPUT: hub di ristoro automatizzato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6492240" y="3520440"/>
            <a:ext cx="4480560" cy="246888"/>
          </a:xfrm>
          <a:prstGeom prst="rect">
            <a:avLst/>
          </a:prstGeom>
          <a:solidFill>
            <a:srgbClr val="60695B"/>
          </a:solidFill>
          <a:ln cap="flat" cmpd="sng" w="12700">
            <a:solidFill>
              <a:srgbClr val="60695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"/>
          <p:cNvSpPr/>
          <p:nvPr/>
        </p:nvSpPr>
        <p:spPr>
          <a:xfrm>
            <a:off x="6629400" y="3767328"/>
            <a:ext cx="219456" cy="219456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B0E0A">
              <a:alpha val="0"/>
            </a:srgbClr>
          </a:solidFill>
          <a:ln cap="flat" cmpd="sng" w="17775">
            <a:solidFill>
              <a:srgbClr val="FF7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"/>
          <p:cNvSpPr/>
          <p:nvPr/>
        </p:nvSpPr>
        <p:spPr>
          <a:xfrm>
            <a:off x="7159752" y="3767328"/>
            <a:ext cx="219456" cy="219456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B0E0A">
              <a:alpha val="0"/>
            </a:srgbClr>
          </a:solidFill>
          <a:ln cap="flat" cmpd="sng" w="17775">
            <a:solidFill>
              <a:srgbClr val="FF7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/>
          <p:nvPr/>
        </p:nvSpPr>
        <p:spPr>
          <a:xfrm>
            <a:off x="7690104" y="3767328"/>
            <a:ext cx="219456" cy="219456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B0E0A">
              <a:alpha val="0"/>
            </a:srgbClr>
          </a:solidFill>
          <a:ln cap="flat" cmpd="sng" w="17775">
            <a:solidFill>
              <a:srgbClr val="FF7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"/>
          <p:cNvSpPr/>
          <p:nvPr/>
        </p:nvSpPr>
        <p:spPr>
          <a:xfrm>
            <a:off x="8220456" y="3767328"/>
            <a:ext cx="219456" cy="219456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B0E0A">
              <a:alpha val="0"/>
            </a:srgbClr>
          </a:solidFill>
          <a:ln cap="flat" cmpd="sng" w="17775">
            <a:solidFill>
              <a:srgbClr val="FF7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"/>
          <p:cNvSpPr/>
          <p:nvPr/>
        </p:nvSpPr>
        <p:spPr>
          <a:xfrm>
            <a:off x="8750808" y="3767328"/>
            <a:ext cx="219456" cy="219456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B0E0A">
              <a:alpha val="0"/>
            </a:srgbClr>
          </a:solidFill>
          <a:ln cap="flat" cmpd="sng" w="17775">
            <a:solidFill>
              <a:srgbClr val="FF7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"/>
          <p:cNvSpPr/>
          <p:nvPr/>
        </p:nvSpPr>
        <p:spPr>
          <a:xfrm>
            <a:off x="9281160" y="3767328"/>
            <a:ext cx="219456" cy="219456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B0E0A">
              <a:alpha val="0"/>
            </a:srgbClr>
          </a:solidFill>
          <a:ln cap="flat" cmpd="sng" w="17775">
            <a:solidFill>
              <a:srgbClr val="FF7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"/>
          <p:cNvSpPr/>
          <p:nvPr/>
        </p:nvSpPr>
        <p:spPr>
          <a:xfrm>
            <a:off x="9811512" y="3767328"/>
            <a:ext cx="219456" cy="219456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B0E0A">
              <a:alpha val="0"/>
            </a:srgbClr>
          </a:solidFill>
          <a:ln cap="flat" cmpd="sng" w="17775">
            <a:solidFill>
              <a:srgbClr val="FF7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"/>
          <p:cNvSpPr/>
          <p:nvPr/>
        </p:nvSpPr>
        <p:spPr>
          <a:xfrm>
            <a:off x="10341864" y="3767328"/>
            <a:ext cx="219456" cy="219456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B0E0A">
              <a:alpha val="0"/>
            </a:srgbClr>
          </a:solidFill>
          <a:ln cap="flat" cmpd="sng" w="17775">
            <a:solidFill>
              <a:srgbClr val="FF7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"/>
          <p:cNvSpPr/>
          <p:nvPr/>
        </p:nvSpPr>
        <p:spPr>
          <a:xfrm>
            <a:off x="6995160" y="1828800"/>
            <a:ext cx="1600200" cy="868680"/>
          </a:xfrm>
          <a:prstGeom prst="roundRect">
            <a:avLst>
              <a:gd fmla="val 16667" name="adj"/>
            </a:avLst>
          </a:prstGeom>
          <a:solidFill>
            <a:srgbClr val="252B23"/>
          </a:solidFill>
          <a:ln cap="flat" cmpd="sng" w="15225">
            <a:solidFill>
              <a:srgbClr val="FFD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TERMINALE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ORDINI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8823960" y="1828800"/>
            <a:ext cx="1737360" cy="868680"/>
          </a:xfrm>
          <a:prstGeom prst="roundRect">
            <a:avLst>
              <a:gd fmla="val 16667" name="adj"/>
            </a:avLst>
          </a:prstGeom>
          <a:solidFill>
            <a:srgbClr val="252B23"/>
          </a:solidFill>
          <a:ln cap="flat" cmpd="sng" w="15225">
            <a:solidFill>
              <a:srgbClr val="FF7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STORAGE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CONDIVISO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p1"/>
          <p:cNvCxnSpPr/>
          <p:nvPr/>
        </p:nvCxnSpPr>
        <p:spPr>
          <a:xfrm>
            <a:off x="8613648" y="2267712"/>
            <a:ext cx="210312" cy="0"/>
          </a:xfrm>
          <a:prstGeom prst="straightConnector1">
            <a:avLst/>
          </a:prstGeom>
          <a:noFill/>
          <a:ln cap="flat" cmpd="sng" w="25400">
            <a:solidFill>
              <a:srgbClr val="FFD3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" name="Google Shape;64;p1"/>
          <p:cNvSpPr/>
          <p:nvPr/>
        </p:nvSpPr>
        <p:spPr>
          <a:xfrm>
            <a:off x="8001000" y="4572000"/>
            <a:ext cx="1828800" cy="868680"/>
          </a:xfrm>
          <a:prstGeom prst="roundRect">
            <a:avLst>
              <a:gd fmla="val 16667" name="adj"/>
            </a:avLst>
          </a:prstGeom>
          <a:solidFill>
            <a:srgbClr val="252B23"/>
          </a:solidFill>
          <a:ln cap="flat" cmpd="sng" w="15225">
            <a:solidFill>
              <a:srgbClr val="7A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" name="Google Shape;65;p1"/>
          <p:cNvCxnSpPr/>
          <p:nvPr/>
        </p:nvCxnSpPr>
        <p:spPr>
          <a:xfrm flipH="1">
            <a:off x="8915400" y="2697480"/>
            <a:ext cx="731520" cy="1874520"/>
          </a:xfrm>
          <a:prstGeom prst="straightConnector1">
            <a:avLst/>
          </a:prstGeom>
          <a:noFill/>
          <a:ln cap="flat" cmpd="sng" w="25400">
            <a:solidFill>
              <a:srgbClr val="FF7A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0A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/>
          <p:nvPr/>
        </p:nvSpPr>
        <p:spPr>
          <a:xfrm>
            <a:off x="320040" y="146304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FICSIT PROPERTY - DO NOT DUPLICATE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7315200" y="109728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7A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7A00"/>
                </a:solidFill>
                <a:latin typeface="Arial"/>
                <a:ea typeface="Arial"/>
                <a:cs typeface="Arial"/>
                <a:sym typeface="Arial"/>
              </a:rPr>
              <a:t>MISSION BRIEFING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10652760" y="731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D3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D3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FF7A00"/>
          </a:solidFill>
          <a:ln cap="flat" cmpd="sng" w="12700">
            <a:solidFill>
              <a:srgbClr val="FF7A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457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914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1371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1828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2286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27432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32004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36576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41148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45720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5029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"/>
          <p:cNvSpPr/>
          <p:nvPr/>
        </p:nvSpPr>
        <p:spPr>
          <a:xfrm>
            <a:off x="5486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5943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6400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6858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73152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77724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82296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86868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91440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9601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10058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10515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10972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11430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320040" y="6419088"/>
            <a:ext cx="4114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BONOBO EXPRESS // AUTOMATED FOOD HUB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585216" y="530352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F3F4ED"/>
                </a:solidFill>
                <a:latin typeface="Play"/>
                <a:ea typeface="Play"/>
                <a:cs typeface="Play"/>
                <a:sym typeface="Play"/>
              </a:rPr>
              <a:t>Dal concept al sito: la rotta del progetto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585216" y="1152144"/>
            <a:ext cx="1280160" cy="73152"/>
          </a:xfrm>
          <a:prstGeom prst="rect">
            <a:avLst/>
          </a:prstGeom>
          <a:solidFill>
            <a:srgbClr val="FF7A00"/>
          </a:solidFill>
          <a:ln cap="flat" cmpd="sng" w="12700">
            <a:solidFill>
              <a:srgbClr val="FF7A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1956816" y="1069848"/>
            <a:ext cx="6766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Abbiamo trasformato un’idea di ristorazione futuristica in un sistema web gestibile.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585230" y="2587770"/>
            <a:ext cx="4937700" cy="1234500"/>
          </a:xfrm>
          <a:prstGeom prst="rect">
            <a:avLst/>
          </a:prstGeom>
          <a:solidFill>
            <a:srgbClr val="050605"/>
          </a:solidFill>
          <a:ln cap="flat" cmpd="sng" w="12700">
            <a:solidFill>
              <a:srgbClr val="6069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7AC74F"/>
                </a:solidFill>
                <a:latin typeface="Consolas"/>
                <a:ea typeface="Consolas"/>
                <a:cs typeface="Consolas"/>
                <a:sym typeface="Consolas"/>
              </a:rPr>
              <a:t>&gt; INPUT: tema Satisfactory/FICSIT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7AC74F"/>
                </a:solidFill>
                <a:latin typeface="Consolas"/>
                <a:ea typeface="Consolas"/>
                <a:cs typeface="Consolas"/>
                <a:sym typeface="Consolas"/>
              </a:rPr>
              <a:t>&gt; VINCOLO: sito completo lato cliente + admin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7AC74F"/>
                </a:solidFill>
                <a:latin typeface="Consolas"/>
                <a:ea typeface="Consolas"/>
                <a:cs typeface="Consolas"/>
                <a:sym typeface="Consolas"/>
              </a:rPr>
              <a:t>&gt; METODO: requisiti → modelli → sviluppo → test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" name="Google Shape;106;p2"/>
          <p:cNvCxnSpPr/>
          <p:nvPr/>
        </p:nvCxnSpPr>
        <p:spPr>
          <a:xfrm>
            <a:off x="6172200" y="2194560"/>
            <a:ext cx="4572000" cy="0"/>
          </a:xfrm>
          <a:prstGeom prst="straightConnector1">
            <a:avLst/>
          </a:prstGeom>
          <a:noFill/>
          <a:ln cap="flat" cmpd="sng" w="38100">
            <a:solidFill>
              <a:srgbClr val="60695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" name="Google Shape;107;p2"/>
          <p:cNvCxnSpPr/>
          <p:nvPr/>
        </p:nvCxnSpPr>
        <p:spPr>
          <a:xfrm>
            <a:off x="6172200" y="4343400"/>
            <a:ext cx="4572000" cy="0"/>
          </a:xfrm>
          <a:prstGeom prst="straightConnector1">
            <a:avLst/>
          </a:prstGeom>
          <a:noFill/>
          <a:ln cap="flat" cmpd="sng" w="38100">
            <a:solidFill>
              <a:srgbClr val="6069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8" name="Google Shape;108;p2"/>
          <p:cNvSpPr/>
          <p:nvPr/>
        </p:nvSpPr>
        <p:spPr>
          <a:xfrm>
            <a:off x="6263640" y="1673352"/>
            <a:ext cx="1234440" cy="1051560"/>
          </a:xfrm>
          <a:prstGeom prst="roundRect">
            <a:avLst>
              <a:gd fmla="val 16667" name="adj"/>
            </a:avLst>
          </a:prstGeom>
          <a:solidFill>
            <a:srgbClr val="1C211B"/>
          </a:solidFill>
          <a:ln cap="flat" cmpd="sng" w="15225">
            <a:solidFill>
              <a:srgbClr val="FFD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Concept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7616952" y="1673352"/>
            <a:ext cx="1234440" cy="1051560"/>
          </a:xfrm>
          <a:prstGeom prst="roundRect">
            <a:avLst>
              <a:gd fmla="val 16667" name="adj"/>
            </a:avLst>
          </a:prstGeom>
          <a:solidFill>
            <a:srgbClr val="1C211B"/>
          </a:solidFill>
          <a:ln cap="flat" cmpd="sng" w="15225">
            <a:solidFill>
              <a:srgbClr val="FF7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Requisiti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8961120" y="1673352"/>
            <a:ext cx="1234440" cy="1051560"/>
          </a:xfrm>
          <a:prstGeom prst="roundRect">
            <a:avLst>
              <a:gd fmla="val 16667" name="adj"/>
            </a:avLst>
          </a:prstGeom>
          <a:solidFill>
            <a:srgbClr val="1C211B"/>
          </a:solidFill>
          <a:ln cap="flat" cmpd="sng" w="15225">
            <a:solidFill>
              <a:srgbClr val="7A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Modelli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6903720" y="3822192"/>
            <a:ext cx="1325880" cy="1051560"/>
          </a:xfrm>
          <a:prstGeom prst="roundRect">
            <a:avLst>
              <a:gd fmla="val 16667" name="adj"/>
            </a:avLst>
          </a:prstGeom>
          <a:solidFill>
            <a:srgbClr val="1C211B"/>
          </a:solidFill>
          <a:ln cap="flat" cmpd="sng" w="15225">
            <a:solidFill>
              <a:srgbClr val="FF7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Sviluppo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8412480" y="3822192"/>
            <a:ext cx="1508760" cy="1051560"/>
          </a:xfrm>
          <a:prstGeom prst="roundRect">
            <a:avLst>
              <a:gd fmla="val 16667" name="adj"/>
            </a:avLst>
          </a:prstGeom>
          <a:solidFill>
            <a:srgbClr val="1C211B"/>
          </a:solidFill>
          <a:ln cap="flat" cmpd="sng" w="15225">
            <a:solidFill>
              <a:srgbClr val="FFD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Validazione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10085832" y="3822192"/>
            <a:ext cx="1143000" cy="1051560"/>
          </a:xfrm>
          <a:prstGeom prst="roundRect">
            <a:avLst>
              <a:gd fmla="val 16667" name="adj"/>
            </a:avLst>
          </a:prstGeom>
          <a:solidFill>
            <a:srgbClr val="1C211B"/>
          </a:solidFill>
          <a:ln cap="flat" cmpd="sng" w="15225">
            <a:solidFill>
              <a:srgbClr val="7A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Sito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0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/>
          <p:nvPr/>
        </p:nvSpPr>
        <p:spPr>
          <a:xfrm>
            <a:off x="320040" y="146304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FICSIT PROPERTY - DO NOT DUPLICATE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7315200" y="109728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7A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7A00"/>
                </a:solidFill>
                <a:latin typeface="Arial"/>
                <a:ea typeface="Arial"/>
                <a:cs typeface="Arial"/>
                <a:sym typeface="Arial"/>
              </a:rPr>
              <a:t>CREW ROSTER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10652760" y="731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D3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D3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FF7A00"/>
          </a:solidFill>
          <a:ln cap="flat" cmpd="sng" w="12700">
            <a:solidFill>
              <a:srgbClr val="FF7A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457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914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1371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1828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2286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27432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32004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36576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41148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45720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5029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5486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5943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6400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6858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73152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77724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82296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86868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91440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9601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10058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10515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10972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"/>
          <p:cNvSpPr/>
          <p:nvPr/>
        </p:nvSpPr>
        <p:spPr>
          <a:xfrm>
            <a:off x="11430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320040" y="6419088"/>
            <a:ext cx="4114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BONOBO EXPRESS // AUTOMATED FOOD HUB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585216" y="530352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F3F4ED"/>
                </a:solidFill>
                <a:latin typeface="Play"/>
                <a:ea typeface="Play"/>
                <a:cs typeface="Play"/>
                <a:sym typeface="Play"/>
              </a:rPr>
              <a:t>Unità operativa Pioneer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585216" y="1152144"/>
            <a:ext cx="1280160" cy="73152"/>
          </a:xfrm>
          <a:prstGeom prst="rect">
            <a:avLst/>
          </a:prstGeom>
          <a:solidFill>
            <a:srgbClr val="FF7A00"/>
          </a:solidFill>
          <a:ln cap="flat" cmpd="sng" w="12700">
            <a:solidFill>
              <a:srgbClr val="FF7A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1956816" y="1069848"/>
            <a:ext cx="6766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Ruoli distribuiti per coprire analisi, dati, sviluppo e qualità.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685800" y="1737360"/>
            <a:ext cx="100584" cy="502920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960120" y="166420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2000"/>
              <a:buFont typeface="Play"/>
              <a:buNone/>
            </a:pPr>
            <a:r>
              <a:rPr b="1" i="0" lang="en-US" sz="2000" u="none" cap="none" strike="noStrike">
                <a:solidFill>
                  <a:srgbClr val="F3F4ED"/>
                </a:solidFill>
                <a:latin typeface="Play"/>
                <a:ea typeface="Play"/>
                <a:cs typeface="Play"/>
                <a:sym typeface="Play"/>
              </a:rPr>
              <a:t>Luca Traverso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4114800" y="1691640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D300"/>
                </a:solidFill>
                <a:latin typeface="Arial"/>
                <a:ea typeface="Arial"/>
                <a:cs typeface="Arial"/>
                <a:sym typeface="Arial"/>
              </a:rPr>
              <a:t>SCRUM MASTER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6629400" y="1682496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architettura database risorse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p3"/>
          <p:cNvCxnSpPr/>
          <p:nvPr/>
        </p:nvCxnSpPr>
        <p:spPr>
          <a:xfrm>
            <a:off x="960120" y="2286000"/>
            <a:ext cx="9966960" cy="0"/>
          </a:xfrm>
          <a:prstGeom prst="straightConnector1">
            <a:avLst/>
          </a:prstGeom>
          <a:noFill/>
          <a:ln cap="flat" cmpd="sng" w="12700">
            <a:solidFill>
              <a:srgbClr val="30382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3"/>
          <p:cNvSpPr/>
          <p:nvPr/>
        </p:nvSpPr>
        <p:spPr>
          <a:xfrm>
            <a:off x="685800" y="2743200"/>
            <a:ext cx="100584" cy="502920"/>
          </a:xfrm>
          <a:prstGeom prst="rect">
            <a:avLst/>
          </a:prstGeom>
          <a:solidFill>
            <a:srgbClr val="FF7A00"/>
          </a:solidFill>
          <a:ln cap="flat" cmpd="sng" w="12700">
            <a:solidFill>
              <a:srgbClr val="FF7A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960120" y="267004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2000"/>
              <a:buFont typeface="Play"/>
              <a:buNone/>
            </a:pPr>
            <a:r>
              <a:rPr b="1" i="0" lang="en-US" sz="2000" u="none" cap="none" strike="noStrike">
                <a:solidFill>
                  <a:srgbClr val="F3F4ED"/>
                </a:solidFill>
                <a:latin typeface="Play"/>
                <a:ea typeface="Play"/>
                <a:cs typeface="Play"/>
                <a:sym typeface="Play"/>
              </a:rPr>
              <a:t>Enrico Botto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4114800" y="2697480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7A00"/>
                </a:solidFill>
                <a:latin typeface="Arial"/>
                <a:ea typeface="Arial"/>
                <a:cs typeface="Arial"/>
                <a:sym typeface="Arial"/>
              </a:rPr>
              <a:t>LEAD ANALYSIS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6629400" y="2688336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controllo qualità e protocolli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" name="Google Shape;162;p3"/>
          <p:cNvCxnSpPr/>
          <p:nvPr/>
        </p:nvCxnSpPr>
        <p:spPr>
          <a:xfrm>
            <a:off x="960120" y="3291840"/>
            <a:ext cx="9966960" cy="0"/>
          </a:xfrm>
          <a:prstGeom prst="straightConnector1">
            <a:avLst/>
          </a:prstGeom>
          <a:noFill/>
          <a:ln cap="flat" cmpd="sng" w="12700">
            <a:solidFill>
              <a:srgbClr val="30382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3"/>
          <p:cNvSpPr/>
          <p:nvPr/>
        </p:nvSpPr>
        <p:spPr>
          <a:xfrm>
            <a:off x="685800" y="3749040"/>
            <a:ext cx="100584" cy="502920"/>
          </a:xfrm>
          <a:prstGeom prst="rect">
            <a:avLst/>
          </a:prstGeom>
          <a:solidFill>
            <a:srgbClr val="7AC74F"/>
          </a:solidFill>
          <a:ln cap="flat" cmpd="sng" w="12700">
            <a:solidFill>
              <a:srgbClr val="7AC74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960120" y="367588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2000"/>
              <a:buFont typeface="Play"/>
              <a:buNone/>
            </a:pPr>
            <a:r>
              <a:rPr b="1" i="0" lang="en-US" sz="2000" u="none" cap="none" strike="noStrike">
                <a:solidFill>
                  <a:srgbClr val="F3F4ED"/>
                </a:solidFill>
                <a:latin typeface="Play"/>
                <a:ea typeface="Play"/>
                <a:cs typeface="Play"/>
                <a:sym typeface="Play"/>
              </a:rPr>
              <a:t>Matteo Giunta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4114800" y="3703320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7AC74F"/>
                </a:solidFill>
                <a:latin typeface="Arial"/>
                <a:ea typeface="Arial"/>
                <a:cs typeface="Arial"/>
                <a:sym typeface="Arial"/>
              </a:rPr>
              <a:t>INGEGNERE WEB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6629400" y="3694176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integrazione terminale client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" name="Google Shape;167;p3"/>
          <p:cNvCxnSpPr/>
          <p:nvPr/>
        </p:nvCxnSpPr>
        <p:spPr>
          <a:xfrm>
            <a:off x="960120" y="4297680"/>
            <a:ext cx="9966960" cy="0"/>
          </a:xfrm>
          <a:prstGeom prst="straightConnector1">
            <a:avLst/>
          </a:prstGeom>
          <a:noFill/>
          <a:ln cap="flat" cmpd="sng" w="12700">
            <a:solidFill>
              <a:srgbClr val="30382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3"/>
          <p:cNvSpPr/>
          <p:nvPr/>
        </p:nvSpPr>
        <p:spPr>
          <a:xfrm>
            <a:off x="685800" y="4754880"/>
            <a:ext cx="100584" cy="502920"/>
          </a:xfrm>
          <a:prstGeom prst="rect">
            <a:avLst/>
          </a:prstGeom>
          <a:solidFill>
            <a:srgbClr val="FF7A00"/>
          </a:solidFill>
          <a:ln cap="flat" cmpd="sng" w="12700">
            <a:solidFill>
              <a:srgbClr val="FF7A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"/>
          <p:cNvSpPr/>
          <p:nvPr/>
        </p:nvSpPr>
        <p:spPr>
          <a:xfrm>
            <a:off x="960120" y="468172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2000"/>
              <a:buFont typeface="Play"/>
              <a:buNone/>
            </a:pPr>
            <a:r>
              <a:rPr b="1" i="0" lang="en-US" sz="2000" u="none" cap="none" strike="noStrike">
                <a:solidFill>
                  <a:srgbClr val="F3F4ED"/>
                </a:solidFill>
                <a:latin typeface="Play"/>
                <a:ea typeface="Play"/>
                <a:cs typeface="Play"/>
                <a:sym typeface="Play"/>
              </a:rPr>
              <a:t>Alessandro Vecchio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4114800" y="4709160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7A00"/>
                </a:solidFill>
                <a:latin typeface="Arial"/>
                <a:ea typeface="Arial"/>
                <a:cs typeface="Arial"/>
                <a:sym typeface="Arial"/>
              </a:rPr>
              <a:t>PROGETTAZIONE SISTEMI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6629400" y="4700016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documentazione tecnica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" name="Google Shape;172;p3"/>
          <p:cNvCxnSpPr/>
          <p:nvPr/>
        </p:nvCxnSpPr>
        <p:spPr>
          <a:xfrm>
            <a:off x="960120" y="5303520"/>
            <a:ext cx="9966960" cy="0"/>
          </a:xfrm>
          <a:prstGeom prst="straightConnector1">
            <a:avLst/>
          </a:prstGeom>
          <a:noFill/>
          <a:ln cap="flat" cmpd="sng" w="12700">
            <a:solidFill>
              <a:srgbClr val="30382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3"/>
          <p:cNvSpPr/>
          <p:nvPr/>
        </p:nvSpPr>
        <p:spPr>
          <a:xfrm>
            <a:off x="822960" y="5550408"/>
            <a:ext cx="7406640" cy="685800"/>
          </a:xfrm>
          <a:prstGeom prst="rect">
            <a:avLst/>
          </a:prstGeom>
          <a:solidFill>
            <a:srgbClr val="050605"/>
          </a:solidFill>
          <a:ln cap="flat" cmpd="sng" w="12700">
            <a:solidFill>
              <a:srgbClr val="6069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7AC74F"/>
                </a:solidFill>
                <a:latin typeface="Consolas"/>
                <a:ea typeface="Consolas"/>
                <a:cs typeface="Consolas"/>
                <a:sym typeface="Consolas"/>
              </a:rPr>
              <a:t>&gt; TEAM SYNC: call settimanali “Point-of-Work”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7AC74F"/>
                </a:solidFill>
                <a:latin typeface="Consolas"/>
                <a:ea typeface="Consolas"/>
                <a:cs typeface="Consolas"/>
                <a:sym typeface="Consolas"/>
              </a:rPr>
              <a:t>&gt; OBIETTIVO: evitare colli di bottiglia e mantenere una build integrata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0A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"/>
          <p:cNvSpPr/>
          <p:nvPr/>
        </p:nvSpPr>
        <p:spPr>
          <a:xfrm>
            <a:off x="320040" y="146304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FICSIT PROPERTY - DO NOT DUPLICATE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7315200" y="109728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7A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7A00"/>
                </a:solidFill>
                <a:latin typeface="Arial"/>
                <a:ea typeface="Arial"/>
                <a:cs typeface="Arial"/>
                <a:sym typeface="Arial"/>
              </a:rPr>
              <a:t>CONCEPT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10652760" y="731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D3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D30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FF7A00"/>
          </a:solidFill>
          <a:ln cap="flat" cmpd="sng" w="12700">
            <a:solidFill>
              <a:srgbClr val="FF7A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457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914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1371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4"/>
          <p:cNvSpPr/>
          <p:nvPr/>
        </p:nvSpPr>
        <p:spPr>
          <a:xfrm>
            <a:off x="1828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2286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27432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32004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"/>
          <p:cNvSpPr/>
          <p:nvPr/>
        </p:nvSpPr>
        <p:spPr>
          <a:xfrm>
            <a:off x="36576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4"/>
          <p:cNvSpPr/>
          <p:nvPr/>
        </p:nvSpPr>
        <p:spPr>
          <a:xfrm>
            <a:off x="41148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4"/>
          <p:cNvSpPr/>
          <p:nvPr/>
        </p:nvSpPr>
        <p:spPr>
          <a:xfrm>
            <a:off x="45720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4"/>
          <p:cNvSpPr/>
          <p:nvPr/>
        </p:nvSpPr>
        <p:spPr>
          <a:xfrm>
            <a:off x="5029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4"/>
          <p:cNvSpPr/>
          <p:nvPr/>
        </p:nvSpPr>
        <p:spPr>
          <a:xfrm>
            <a:off x="5486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5943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6400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6858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4"/>
          <p:cNvSpPr/>
          <p:nvPr/>
        </p:nvSpPr>
        <p:spPr>
          <a:xfrm>
            <a:off x="73152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"/>
          <p:cNvSpPr/>
          <p:nvPr/>
        </p:nvSpPr>
        <p:spPr>
          <a:xfrm>
            <a:off x="77724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4"/>
          <p:cNvSpPr/>
          <p:nvPr/>
        </p:nvSpPr>
        <p:spPr>
          <a:xfrm>
            <a:off x="82296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"/>
          <p:cNvSpPr/>
          <p:nvPr/>
        </p:nvSpPr>
        <p:spPr>
          <a:xfrm>
            <a:off x="86868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4"/>
          <p:cNvSpPr/>
          <p:nvPr/>
        </p:nvSpPr>
        <p:spPr>
          <a:xfrm>
            <a:off x="91440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"/>
          <p:cNvSpPr/>
          <p:nvPr/>
        </p:nvSpPr>
        <p:spPr>
          <a:xfrm>
            <a:off x="9601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4"/>
          <p:cNvSpPr/>
          <p:nvPr/>
        </p:nvSpPr>
        <p:spPr>
          <a:xfrm>
            <a:off x="10058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"/>
          <p:cNvSpPr/>
          <p:nvPr/>
        </p:nvSpPr>
        <p:spPr>
          <a:xfrm>
            <a:off x="10515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4"/>
          <p:cNvSpPr/>
          <p:nvPr/>
        </p:nvSpPr>
        <p:spPr>
          <a:xfrm>
            <a:off x="10972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4"/>
          <p:cNvSpPr/>
          <p:nvPr/>
        </p:nvSpPr>
        <p:spPr>
          <a:xfrm>
            <a:off x="11430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4"/>
          <p:cNvSpPr/>
          <p:nvPr/>
        </p:nvSpPr>
        <p:spPr>
          <a:xfrm>
            <a:off x="320040" y="6419088"/>
            <a:ext cx="4114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BONOBO EXPRESS // AUTOMATED FOOD HUB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585216" y="530352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F3F4ED"/>
                </a:solidFill>
                <a:latin typeface="Play"/>
                <a:ea typeface="Play"/>
                <a:cs typeface="Play"/>
                <a:sym typeface="Play"/>
              </a:rPr>
              <a:t>Direttiva di progetto: esperienza FICSIT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585216" y="1152144"/>
            <a:ext cx="1280160" cy="73152"/>
          </a:xfrm>
          <a:prstGeom prst="rect">
            <a:avLst/>
          </a:prstGeom>
          <a:solidFill>
            <a:srgbClr val="FF7A00"/>
          </a:solidFill>
          <a:ln cap="flat" cmpd="sng" w="12700">
            <a:solidFill>
              <a:srgbClr val="FF7A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4"/>
          <p:cNvSpPr/>
          <p:nvPr/>
        </p:nvSpPr>
        <p:spPr>
          <a:xfrm>
            <a:off x="1956816" y="1069848"/>
            <a:ext cx="6766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Il sito doveva sembrare un terminale operativo, non un semplice menù online.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685800" y="16002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00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FFD300"/>
                </a:solidFill>
                <a:latin typeface="Play"/>
                <a:ea typeface="Play"/>
                <a:cs typeface="Play"/>
                <a:sym typeface="Play"/>
              </a:rPr>
              <a:t>Idea guida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685800" y="2029968"/>
            <a:ext cx="47548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Integrare l’estetica industriale di Satisfactory in una ristorazione futuristica: ordini da terminale, consegna ideale su nastro MK.5, controllo dei flussi e “massimizzazione del rendimento calorico”.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p4"/>
          <p:cNvCxnSpPr/>
          <p:nvPr/>
        </p:nvCxnSpPr>
        <p:spPr>
          <a:xfrm>
            <a:off x="7132320" y="2075688"/>
            <a:ext cx="1097280" cy="0"/>
          </a:xfrm>
          <a:prstGeom prst="straightConnector1">
            <a:avLst/>
          </a:prstGeom>
          <a:noFill/>
          <a:ln cap="flat" cmpd="sng" w="31750">
            <a:solidFill>
              <a:srgbClr val="FF7A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6" name="Google Shape;216;p4"/>
          <p:cNvCxnSpPr/>
          <p:nvPr/>
        </p:nvCxnSpPr>
        <p:spPr>
          <a:xfrm>
            <a:off x="9692640" y="2075688"/>
            <a:ext cx="960120" cy="0"/>
          </a:xfrm>
          <a:prstGeom prst="straightConnector1">
            <a:avLst/>
          </a:prstGeom>
          <a:noFill/>
          <a:ln cap="flat" cmpd="sng" w="31750">
            <a:solidFill>
              <a:srgbClr val="FF7A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7" name="Google Shape;217;p4"/>
          <p:cNvSpPr/>
          <p:nvPr/>
        </p:nvSpPr>
        <p:spPr>
          <a:xfrm>
            <a:off x="5989320" y="1600200"/>
            <a:ext cx="1143000" cy="960120"/>
          </a:xfrm>
          <a:prstGeom prst="roundRect">
            <a:avLst>
              <a:gd fmla="val 16667" name="adj"/>
            </a:avLst>
          </a:prstGeom>
          <a:solidFill>
            <a:srgbClr val="252B23"/>
          </a:solidFill>
          <a:ln cap="flat" cmpd="sng" w="15225">
            <a:solidFill>
              <a:srgbClr val="FFD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prenota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8229600" y="1600200"/>
            <a:ext cx="1463040" cy="960120"/>
          </a:xfrm>
          <a:prstGeom prst="roundRect">
            <a:avLst>
              <a:gd fmla="val 16667" name="adj"/>
            </a:avLst>
          </a:prstGeom>
          <a:solidFill>
            <a:srgbClr val="252B23"/>
          </a:solidFill>
          <a:ln cap="flat" cmpd="sng" w="15225">
            <a:solidFill>
              <a:srgbClr val="FF7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Menu +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ordine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10652760" y="1600200"/>
            <a:ext cx="1417320" cy="960120"/>
          </a:xfrm>
          <a:prstGeom prst="roundRect">
            <a:avLst>
              <a:gd fmla="val 16667" name="adj"/>
            </a:avLst>
          </a:prstGeom>
          <a:solidFill>
            <a:srgbClr val="252B23"/>
          </a:solidFill>
          <a:ln cap="flat" cmpd="sng" w="15225">
            <a:solidFill>
              <a:srgbClr val="7A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controlla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6126480" y="3703320"/>
            <a:ext cx="4526280" cy="228600"/>
          </a:xfrm>
          <a:prstGeom prst="rect">
            <a:avLst/>
          </a:prstGeom>
          <a:solidFill>
            <a:srgbClr val="60695B"/>
          </a:solidFill>
          <a:ln cap="flat" cmpd="sng" w="12700">
            <a:solidFill>
              <a:srgbClr val="60695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4"/>
          <p:cNvSpPr/>
          <p:nvPr/>
        </p:nvSpPr>
        <p:spPr>
          <a:xfrm>
            <a:off x="6263640" y="3977640"/>
            <a:ext cx="301752" cy="301752"/>
          </a:xfrm>
          <a:prstGeom prst="roundRect">
            <a:avLst>
              <a:gd fmla="val 16667" name="adj"/>
            </a:avLst>
          </a:prstGeom>
          <a:solidFill>
            <a:srgbClr val="0B0E0A"/>
          </a:solidFill>
          <a:ln cap="flat" cmpd="sng" w="15225">
            <a:solidFill>
              <a:srgbClr val="FF7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6885432" y="3977640"/>
            <a:ext cx="301752" cy="301752"/>
          </a:xfrm>
          <a:prstGeom prst="roundRect">
            <a:avLst>
              <a:gd fmla="val 16667" name="adj"/>
            </a:avLst>
          </a:prstGeom>
          <a:solidFill>
            <a:srgbClr val="0B0E0A"/>
          </a:solidFill>
          <a:ln cap="flat" cmpd="sng" w="15225">
            <a:solidFill>
              <a:srgbClr val="FF7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7507224" y="3977640"/>
            <a:ext cx="301752" cy="301752"/>
          </a:xfrm>
          <a:prstGeom prst="roundRect">
            <a:avLst>
              <a:gd fmla="val 16667" name="adj"/>
            </a:avLst>
          </a:prstGeom>
          <a:solidFill>
            <a:srgbClr val="0B0E0A"/>
          </a:solidFill>
          <a:ln cap="flat" cmpd="sng" w="15225">
            <a:solidFill>
              <a:srgbClr val="FF7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8129016" y="3977640"/>
            <a:ext cx="301752" cy="301752"/>
          </a:xfrm>
          <a:prstGeom prst="roundRect">
            <a:avLst>
              <a:gd fmla="val 16667" name="adj"/>
            </a:avLst>
          </a:prstGeom>
          <a:solidFill>
            <a:srgbClr val="0B0E0A"/>
          </a:solidFill>
          <a:ln cap="flat" cmpd="sng" w="15225">
            <a:solidFill>
              <a:srgbClr val="FF7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8750808" y="3977640"/>
            <a:ext cx="301752" cy="301752"/>
          </a:xfrm>
          <a:prstGeom prst="roundRect">
            <a:avLst>
              <a:gd fmla="val 16667" name="adj"/>
            </a:avLst>
          </a:prstGeom>
          <a:solidFill>
            <a:srgbClr val="0B0E0A"/>
          </a:solidFill>
          <a:ln cap="flat" cmpd="sng" w="15225">
            <a:solidFill>
              <a:srgbClr val="FF7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"/>
          <p:cNvSpPr/>
          <p:nvPr/>
        </p:nvSpPr>
        <p:spPr>
          <a:xfrm>
            <a:off x="9372600" y="3977640"/>
            <a:ext cx="301752" cy="301752"/>
          </a:xfrm>
          <a:prstGeom prst="roundRect">
            <a:avLst>
              <a:gd fmla="val 16667" name="adj"/>
            </a:avLst>
          </a:prstGeom>
          <a:solidFill>
            <a:srgbClr val="0B0E0A"/>
          </a:solidFill>
          <a:ln cap="flat" cmpd="sng" w="15225">
            <a:solidFill>
              <a:srgbClr val="FF7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9994392" y="3977640"/>
            <a:ext cx="301752" cy="301752"/>
          </a:xfrm>
          <a:prstGeom prst="roundRect">
            <a:avLst>
              <a:gd fmla="val 16667" name="adj"/>
            </a:avLst>
          </a:prstGeom>
          <a:solidFill>
            <a:srgbClr val="0B0E0A"/>
          </a:solidFill>
          <a:ln cap="flat" cmpd="sng" w="15225">
            <a:solidFill>
              <a:srgbClr val="FF7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6446520" y="4617720"/>
            <a:ext cx="2926080" cy="237744"/>
          </a:xfrm>
          <a:prstGeom prst="rect">
            <a:avLst/>
          </a:prstGeom>
          <a:solidFill>
            <a:srgbClr val="FF7A00"/>
          </a:solidFill>
          <a:ln cap="flat" cmpd="sng" w="9525">
            <a:solidFill>
              <a:srgbClr val="FF7A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CONVEYOR BELT MK.5 // FOOD OUTPUT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685800" y="4297680"/>
            <a:ext cx="4434840" cy="1051560"/>
          </a:xfrm>
          <a:prstGeom prst="rect">
            <a:avLst/>
          </a:prstGeom>
          <a:solidFill>
            <a:srgbClr val="050605"/>
          </a:solidFill>
          <a:ln cap="flat" cmpd="sng" w="12700">
            <a:solidFill>
              <a:srgbClr val="6069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7AC74F"/>
                </a:solidFill>
                <a:latin typeface="Consolas"/>
                <a:ea typeface="Consolas"/>
                <a:cs typeface="Consolas"/>
                <a:sym typeface="Consolas"/>
              </a:rPr>
              <a:t>&gt; KPI: ordine tracciato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7AC74F"/>
                </a:solidFill>
                <a:latin typeface="Consolas"/>
                <a:ea typeface="Consolas"/>
                <a:cs typeface="Consolas"/>
                <a:sym typeface="Consolas"/>
              </a:rPr>
              <a:t>&gt; KPI: gestione menù centralizzata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7AC74F"/>
                </a:solidFill>
                <a:latin typeface="Consolas"/>
                <a:ea typeface="Consolas"/>
                <a:cs typeface="Consolas"/>
                <a:sym typeface="Consolas"/>
              </a:rPr>
              <a:t>&gt; KPI: feedback verificato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0A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"/>
          <p:cNvSpPr/>
          <p:nvPr/>
        </p:nvSpPr>
        <p:spPr>
          <a:xfrm>
            <a:off x="320040" y="146304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FICSIT PROPERTY - DO NOT DUPLICATE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7315200" y="109728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7A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7A00"/>
                </a:solidFill>
                <a:latin typeface="Arial"/>
                <a:ea typeface="Arial"/>
                <a:cs typeface="Arial"/>
                <a:sym typeface="Arial"/>
              </a:rPr>
              <a:t>ANALISI REQUISITI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10652760" y="731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D3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D30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FF7A00"/>
          </a:solidFill>
          <a:ln cap="flat" cmpd="sng" w="12700">
            <a:solidFill>
              <a:srgbClr val="FF7A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5"/>
          <p:cNvSpPr/>
          <p:nvPr/>
        </p:nvSpPr>
        <p:spPr>
          <a:xfrm>
            <a:off x="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5"/>
          <p:cNvSpPr/>
          <p:nvPr/>
        </p:nvSpPr>
        <p:spPr>
          <a:xfrm>
            <a:off x="457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5"/>
          <p:cNvSpPr/>
          <p:nvPr/>
        </p:nvSpPr>
        <p:spPr>
          <a:xfrm>
            <a:off x="914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5"/>
          <p:cNvSpPr/>
          <p:nvPr/>
        </p:nvSpPr>
        <p:spPr>
          <a:xfrm>
            <a:off x="1371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"/>
          <p:cNvSpPr/>
          <p:nvPr/>
        </p:nvSpPr>
        <p:spPr>
          <a:xfrm>
            <a:off x="1828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5"/>
          <p:cNvSpPr/>
          <p:nvPr/>
        </p:nvSpPr>
        <p:spPr>
          <a:xfrm>
            <a:off x="2286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5"/>
          <p:cNvSpPr/>
          <p:nvPr/>
        </p:nvSpPr>
        <p:spPr>
          <a:xfrm>
            <a:off x="27432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5"/>
          <p:cNvSpPr/>
          <p:nvPr/>
        </p:nvSpPr>
        <p:spPr>
          <a:xfrm>
            <a:off x="32004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5"/>
          <p:cNvSpPr/>
          <p:nvPr/>
        </p:nvSpPr>
        <p:spPr>
          <a:xfrm>
            <a:off x="36576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5"/>
          <p:cNvSpPr/>
          <p:nvPr/>
        </p:nvSpPr>
        <p:spPr>
          <a:xfrm>
            <a:off x="41148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5"/>
          <p:cNvSpPr/>
          <p:nvPr/>
        </p:nvSpPr>
        <p:spPr>
          <a:xfrm>
            <a:off x="45720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5"/>
          <p:cNvSpPr/>
          <p:nvPr/>
        </p:nvSpPr>
        <p:spPr>
          <a:xfrm>
            <a:off x="5029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5"/>
          <p:cNvSpPr/>
          <p:nvPr/>
        </p:nvSpPr>
        <p:spPr>
          <a:xfrm>
            <a:off x="5486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5"/>
          <p:cNvSpPr/>
          <p:nvPr/>
        </p:nvSpPr>
        <p:spPr>
          <a:xfrm>
            <a:off x="5943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5"/>
          <p:cNvSpPr/>
          <p:nvPr/>
        </p:nvSpPr>
        <p:spPr>
          <a:xfrm>
            <a:off x="6400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5"/>
          <p:cNvSpPr/>
          <p:nvPr/>
        </p:nvSpPr>
        <p:spPr>
          <a:xfrm>
            <a:off x="6858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5"/>
          <p:cNvSpPr/>
          <p:nvPr/>
        </p:nvSpPr>
        <p:spPr>
          <a:xfrm>
            <a:off x="73152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5"/>
          <p:cNvSpPr/>
          <p:nvPr/>
        </p:nvSpPr>
        <p:spPr>
          <a:xfrm>
            <a:off x="77724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5"/>
          <p:cNvSpPr/>
          <p:nvPr/>
        </p:nvSpPr>
        <p:spPr>
          <a:xfrm>
            <a:off x="82296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5"/>
          <p:cNvSpPr/>
          <p:nvPr/>
        </p:nvSpPr>
        <p:spPr>
          <a:xfrm>
            <a:off x="86868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5"/>
          <p:cNvSpPr/>
          <p:nvPr/>
        </p:nvSpPr>
        <p:spPr>
          <a:xfrm>
            <a:off x="91440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5"/>
          <p:cNvSpPr/>
          <p:nvPr/>
        </p:nvSpPr>
        <p:spPr>
          <a:xfrm>
            <a:off x="9601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5"/>
          <p:cNvSpPr/>
          <p:nvPr/>
        </p:nvSpPr>
        <p:spPr>
          <a:xfrm>
            <a:off x="10058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5"/>
          <p:cNvSpPr/>
          <p:nvPr/>
        </p:nvSpPr>
        <p:spPr>
          <a:xfrm>
            <a:off x="10515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5"/>
          <p:cNvSpPr/>
          <p:nvPr/>
        </p:nvSpPr>
        <p:spPr>
          <a:xfrm>
            <a:off x="10972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5"/>
          <p:cNvSpPr/>
          <p:nvPr/>
        </p:nvSpPr>
        <p:spPr>
          <a:xfrm>
            <a:off x="11430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5"/>
          <p:cNvSpPr/>
          <p:nvPr/>
        </p:nvSpPr>
        <p:spPr>
          <a:xfrm>
            <a:off x="320040" y="6419088"/>
            <a:ext cx="4114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BONOBO EXPRESS // AUTOMATED FOOD HUB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585216" y="530352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F3F4ED"/>
                </a:solidFill>
                <a:latin typeface="Play"/>
                <a:ea typeface="Play"/>
                <a:cs typeface="Play"/>
                <a:sym typeface="Play"/>
              </a:rPr>
              <a:t>Use case: chi usa il sito e cosa deve fare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5"/>
          <p:cNvSpPr/>
          <p:nvPr/>
        </p:nvSpPr>
        <p:spPr>
          <a:xfrm>
            <a:off x="585216" y="1152144"/>
            <a:ext cx="1280160" cy="73152"/>
          </a:xfrm>
          <a:prstGeom prst="rect">
            <a:avLst/>
          </a:prstGeom>
          <a:solidFill>
            <a:srgbClr val="FF7A00"/>
          </a:solidFill>
          <a:ln cap="flat" cmpd="sng" w="12700">
            <a:solidFill>
              <a:srgbClr val="FF7A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5"/>
          <p:cNvSpPr/>
          <p:nvPr/>
        </p:nvSpPr>
        <p:spPr>
          <a:xfrm>
            <a:off x="1956816" y="1069848"/>
            <a:ext cx="6766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La mappa funzionale separa il percorso cliente dal pannello admin.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ssets/usecase_cropped.png" id="269" name="Google Shape;26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5170" y="1444752"/>
            <a:ext cx="2646101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5"/>
          <p:cNvSpPr/>
          <p:nvPr/>
        </p:nvSpPr>
        <p:spPr>
          <a:xfrm>
            <a:off x="5806440" y="1444752"/>
            <a:ext cx="5623560" cy="48006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5225">
            <a:solidFill>
              <a:srgbClr val="6069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5"/>
          <p:cNvSpPr/>
          <p:nvPr/>
        </p:nvSpPr>
        <p:spPr>
          <a:xfrm>
            <a:off x="658368" y="15087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00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FFD300"/>
                </a:solidFill>
                <a:latin typeface="Play"/>
                <a:ea typeface="Play"/>
                <a:cs typeface="Play"/>
                <a:sym typeface="Play"/>
              </a:rPr>
              <a:t>Lato Cliente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5"/>
          <p:cNvSpPr/>
          <p:nvPr/>
        </p:nvSpPr>
        <p:spPr>
          <a:xfrm>
            <a:off x="685800" y="192024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7AC74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996696" y="1911096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Home, menu, contatti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685800" y="237744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7AC74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5"/>
          <p:cNvSpPr/>
          <p:nvPr/>
        </p:nvSpPr>
        <p:spPr>
          <a:xfrm>
            <a:off x="996696" y="2368296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Prenotazione con salvataggio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685800" y="283464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7AC74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5"/>
          <p:cNvSpPr/>
          <p:nvPr/>
        </p:nvSpPr>
        <p:spPr>
          <a:xfrm>
            <a:off x="996696" y="2825496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Ordinazione e recensione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658368" y="35204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00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FF7A00"/>
                </a:solidFill>
                <a:latin typeface="Play"/>
                <a:ea typeface="Play"/>
                <a:cs typeface="Play"/>
                <a:sym typeface="Play"/>
              </a:rPr>
              <a:t>Lato Admin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685800" y="393192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7AC74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996696" y="3922776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Dashboard e statistiche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5"/>
          <p:cNvSpPr/>
          <p:nvPr/>
        </p:nvSpPr>
        <p:spPr>
          <a:xfrm>
            <a:off x="685800" y="438912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7AC74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996696" y="4379976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Gestione menù, ordini, prenotazioni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5"/>
          <p:cNvSpPr/>
          <p:nvPr/>
        </p:nvSpPr>
        <p:spPr>
          <a:xfrm>
            <a:off x="685800" y="484632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7AC74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5"/>
          <p:cNvSpPr/>
          <p:nvPr/>
        </p:nvSpPr>
        <p:spPr>
          <a:xfrm>
            <a:off x="996696" y="4837176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Recensioni + logout sicuro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5"/>
          <p:cNvSpPr/>
          <p:nvPr/>
        </p:nvSpPr>
        <p:spPr>
          <a:xfrm>
            <a:off x="685800" y="5596128"/>
            <a:ext cx="4617720" cy="594360"/>
          </a:xfrm>
          <a:prstGeom prst="rect">
            <a:avLst/>
          </a:prstGeom>
          <a:solidFill>
            <a:srgbClr val="050605"/>
          </a:solidFill>
          <a:ln cap="flat" cmpd="sng" w="12700">
            <a:solidFill>
              <a:srgbClr val="6069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7AC74F"/>
                </a:solidFill>
                <a:latin typeface="Consolas"/>
                <a:ea typeface="Consolas"/>
                <a:cs typeface="Consolas"/>
                <a:sym typeface="Consolas"/>
              </a:rPr>
              <a:t>&gt; Nodo comune: storage condiviso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7AC74F"/>
                </a:solidFill>
                <a:latin typeface="Consolas"/>
                <a:ea typeface="Consolas"/>
                <a:cs typeface="Consolas"/>
                <a:sym typeface="Consolas"/>
              </a:rPr>
              <a:t>&gt; Obiettivo: sincronizzare viste realtime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0A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"/>
          <p:cNvSpPr/>
          <p:nvPr/>
        </p:nvSpPr>
        <p:spPr>
          <a:xfrm>
            <a:off x="320040" y="146304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FICSIT PROPERTY - DO NOT DUPLICATE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7315200" y="109728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7A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7A00"/>
                </a:solidFill>
                <a:latin typeface="Arial"/>
                <a:ea typeface="Arial"/>
                <a:cs typeface="Arial"/>
                <a:sym typeface="Arial"/>
              </a:rPr>
              <a:t>PROGETTAZIONE TECNICA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10652760" y="731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D3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D30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FF7A00"/>
          </a:solidFill>
          <a:ln cap="flat" cmpd="sng" w="12700">
            <a:solidFill>
              <a:srgbClr val="FF7A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6"/>
          <p:cNvSpPr/>
          <p:nvPr/>
        </p:nvSpPr>
        <p:spPr>
          <a:xfrm>
            <a:off x="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6"/>
          <p:cNvSpPr/>
          <p:nvPr/>
        </p:nvSpPr>
        <p:spPr>
          <a:xfrm>
            <a:off x="457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6"/>
          <p:cNvSpPr/>
          <p:nvPr/>
        </p:nvSpPr>
        <p:spPr>
          <a:xfrm>
            <a:off x="914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6"/>
          <p:cNvSpPr/>
          <p:nvPr/>
        </p:nvSpPr>
        <p:spPr>
          <a:xfrm>
            <a:off x="1371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6"/>
          <p:cNvSpPr/>
          <p:nvPr/>
        </p:nvSpPr>
        <p:spPr>
          <a:xfrm>
            <a:off x="1828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6"/>
          <p:cNvSpPr/>
          <p:nvPr/>
        </p:nvSpPr>
        <p:spPr>
          <a:xfrm>
            <a:off x="2286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6"/>
          <p:cNvSpPr/>
          <p:nvPr/>
        </p:nvSpPr>
        <p:spPr>
          <a:xfrm>
            <a:off x="27432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6"/>
          <p:cNvSpPr/>
          <p:nvPr/>
        </p:nvSpPr>
        <p:spPr>
          <a:xfrm>
            <a:off x="32004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6"/>
          <p:cNvSpPr/>
          <p:nvPr/>
        </p:nvSpPr>
        <p:spPr>
          <a:xfrm>
            <a:off x="36576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6"/>
          <p:cNvSpPr/>
          <p:nvPr/>
        </p:nvSpPr>
        <p:spPr>
          <a:xfrm>
            <a:off x="41148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6"/>
          <p:cNvSpPr/>
          <p:nvPr/>
        </p:nvSpPr>
        <p:spPr>
          <a:xfrm>
            <a:off x="45720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6"/>
          <p:cNvSpPr/>
          <p:nvPr/>
        </p:nvSpPr>
        <p:spPr>
          <a:xfrm>
            <a:off x="5029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6"/>
          <p:cNvSpPr/>
          <p:nvPr/>
        </p:nvSpPr>
        <p:spPr>
          <a:xfrm>
            <a:off x="5486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6"/>
          <p:cNvSpPr/>
          <p:nvPr/>
        </p:nvSpPr>
        <p:spPr>
          <a:xfrm>
            <a:off x="5943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6"/>
          <p:cNvSpPr/>
          <p:nvPr/>
        </p:nvSpPr>
        <p:spPr>
          <a:xfrm>
            <a:off x="6400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6"/>
          <p:cNvSpPr/>
          <p:nvPr/>
        </p:nvSpPr>
        <p:spPr>
          <a:xfrm>
            <a:off x="6858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6"/>
          <p:cNvSpPr/>
          <p:nvPr/>
        </p:nvSpPr>
        <p:spPr>
          <a:xfrm>
            <a:off x="73152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6"/>
          <p:cNvSpPr/>
          <p:nvPr/>
        </p:nvSpPr>
        <p:spPr>
          <a:xfrm>
            <a:off x="77724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6"/>
          <p:cNvSpPr/>
          <p:nvPr/>
        </p:nvSpPr>
        <p:spPr>
          <a:xfrm>
            <a:off x="82296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6"/>
          <p:cNvSpPr/>
          <p:nvPr/>
        </p:nvSpPr>
        <p:spPr>
          <a:xfrm>
            <a:off x="86868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6"/>
          <p:cNvSpPr/>
          <p:nvPr/>
        </p:nvSpPr>
        <p:spPr>
          <a:xfrm>
            <a:off x="91440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6"/>
          <p:cNvSpPr/>
          <p:nvPr/>
        </p:nvSpPr>
        <p:spPr>
          <a:xfrm>
            <a:off x="9601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6"/>
          <p:cNvSpPr/>
          <p:nvPr/>
        </p:nvSpPr>
        <p:spPr>
          <a:xfrm>
            <a:off x="10058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6"/>
          <p:cNvSpPr/>
          <p:nvPr/>
        </p:nvSpPr>
        <p:spPr>
          <a:xfrm>
            <a:off x="10515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6"/>
          <p:cNvSpPr/>
          <p:nvPr/>
        </p:nvSpPr>
        <p:spPr>
          <a:xfrm>
            <a:off x="10972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6"/>
          <p:cNvSpPr/>
          <p:nvPr/>
        </p:nvSpPr>
        <p:spPr>
          <a:xfrm>
            <a:off x="11430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6"/>
          <p:cNvSpPr/>
          <p:nvPr/>
        </p:nvSpPr>
        <p:spPr>
          <a:xfrm>
            <a:off x="320040" y="6419088"/>
            <a:ext cx="4114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BONOBO EXPRESS // AUTOMATED FOOD HUB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6"/>
          <p:cNvSpPr/>
          <p:nvPr/>
        </p:nvSpPr>
        <p:spPr>
          <a:xfrm>
            <a:off x="585216" y="530352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F3F4ED"/>
                </a:solidFill>
                <a:latin typeface="Play"/>
                <a:ea typeface="Play"/>
                <a:cs typeface="Play"/>
                <a:sym typeface="Play"/>
              </a:rPr>
              <a:t>Class diagram: dal requisito alla struttura dati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585216" y="1152144"/>
            <a:ext cx="1280160" cy="73152"/>
          </a:xfrm>
          <a:prstGeom prst="rect">
            <a:avLst/>
          </a:prstGeom>
          <a:solidFill>
            <a:srgbClr val="FF7A00"/>
          </a:solidFill>
          <a:ln cap="flat" cmpd="sng" w="12700">
            <a:solidFill>
              <a:srgbClr val="FF7A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6"/>
          <p:cNvSpPr/>
          <p:nvPr/>
        </p:nvSpPr>
        <p:spPr>
          <a:xfrm>
            <a:off x="1956816" y="1069848"/>
            <a:ext cx="6766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La progettazione ha tradotto le funzioni in classi, repository ed entità.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ssets/classdiag_cropped.png" id="325" name="Google Shape;3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602815"/>
            <a:ext cx="6720840" cy="4365602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6"/>
          <p:cNvSpPr/>
          <p:nvPr/>
        </p:nvSpPr>
        <p:spPr>
          <a:xfrm>
            <a:off x="594360" y="1444752"/>
            <a:ext cx="6720840" cy="4681728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5225">
            <a:solidFill>
              <a:srgbClr val="6069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6"/>
          <p:cNvSpPr/>
          <p:nvPr/>
        </p:nvSpPr>
        <p:spPr>
          <a:xfrm>
            <a:off x="7635240" y="132588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00"/>
              </a:buClr>
              <a:buSzPts val="1900"/>
              <a:buFont typeface="Play"/>
              <a:buNone/>
            </a:pPr>
            <a:r>
              <a:rPr b="1" i="0" lang="en-US" sz="1900" u="none" cap="none" strike="noStrike">
                <a:solidFill>
                  <a:srgbClr val="FFD300"/>
                </a:solidFill>
                <a:latin typeface="Play"/>
                <a:ea typeface="Play"/>
                <a:cs typeface="Play"/>
                <a:sym typeface="Play"/>
              </a:rPr>
              <a:t>Architettura scelta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6"/>
          <p:cNvSpPr/>
          <p:nvPr/>
        </p:nvSpPr>
        <p:spPr>
          <a:xfrm>
            <a:off x="7635240" y="178308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7AC74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7946136" y="1773936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ClientArea per menu, prenotazioni, ordini e recensioni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6"/>
          <p:cNvSpPr/>
          <p:nvPr/>
        </p:nvSpPr>
        <p:spPr>
          <a:xfrm>
            <a:off x="7635240" y="242316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7AC74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7946136" y="2414016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AdminArea per dashboard e gestione operativa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6"/>
          <p:cNvSpPr/>
          <p:nvPr/>
        </p:nvSpPr>
        <p:spPr>
          <a:xfrm>
            <a:off x="7635240" y="306324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7AC74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7946136" y="3054096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Repository dedicati per menu, reservation, order, review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6"/>
          <p:cNvSpPr/>
          <p:nvPr/>
        </p:nvSpPr>
        <p:spPr>
          <a:xfrm>
            <a:off x="7635240" y="370332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7AC74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7946136" y="3694176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Storage centrale con update e statistiche dashboard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6"/>
          <p:cNvSpPr/>
          <p:nvPr/>
        </p:nvSpPr>
        <p:spPr>
          <a:xfrm>
            <a:off x="7635240" y="4709160"/>
            <a:ext cx="3611880" cy="960120"/>
          </a:xfrm>
          <a:prstGeom prst="rect">
            <a:avLst/>
          </a:prstGeom>
          <a:solidFill>
            <a:srgbClr val="050605"/>
          </a:solidFill>
          <a:ln cap="flat" cmpd="sng" w="12700">
            <a:solidFill>
              <a:srgbClr val="6069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7AC74F"/>
                </a:solidFill>
                <a:latin typeface="Consolas"/>
                <a:ea typeface="Consolas"/>
                <a:cs typeface="Consolas"/>
                <a:sym typeface="Consolas"/>
              </a:rPr>
              <a:t>&gt; DAL MODELLO AL CODICE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7AC74F"/>
                </a:solidFill>
                <a:latin typeface="Consolas"/>
                <a:ea typeface="Consolas"/>
                <a:cs typeface="Consolas"/>
                <a:sym typeface="Consolas"/>
              </a:rPr>
              <a:t>&gt; Ogni classe nasce da un caso d’uso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7AC74F"/>
                </a:solidFill>
                <a:latin typeface="Consolas"/>
                <a:ea typeface="Consolas"/>
                <a:cs typeface="Consolas"/>
                <a:sym typeface="Consolas"/>
              </a:rPr>
              <a:t>&gt; Ogni repository separa dati e interfaccia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0A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7"/>
          <p:cNvSpPr/>
          <p:nvPr/>
        </p:nvSpPr>
        <p:spPr>
          <a:xfrm>
            <a:off x="320040" y="146304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FICSIT PROPERTY - DO NOT DUPLICATE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7"/>
          <p:cNvSpPr/>
          <p:nvPr/>
        </p:nvSpPr>
        <p:spPr>
          <a:xfrm>
            <a:off x="7315200" y="109728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7A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7A00"/>
                </a:solidFill>
                <a:latin typeface="Arial"/>
                <a:ea typeface="Arial"/>
                <a:cs typeface="Arial"/>
                <a:sym typeface="Arial"/>
              </a:rPr>
              <a:t>SVILUPPO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7"/>
          <p:cNvSpPr/>
          <p:nvPr/>
        </p:nvSpPr>
        <p:spPr>
          <a:xfrm>
            <a:off x="10652760" y="731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D3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D30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7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FF7A00"/>
          </a:solidFill>
          <a:ln cap="flat" cmpd="sng" w="12700">
            <a:solidFill>
              <a:srgbClr val="FF7A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7"/>
          <p:cNvSpPr/>
          <p:nvPr/>
        </p:nvSpPr>
        <p:spPr>
          <a:xfrm>
            <a:off x="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7"/>
          <p:cNvSpPr/>
          <p:nvPr/>
        </p:nvSpPr>
        <p:spPr>
          <a:xfrm>
            <a:off x="457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7"/>
          <p:cNvSpPr/>
          <p:nvPr/>
        </p:nvSpPr>
        <p:spPr>
          <a:xfrm>
            <a:off x="914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7"/>
          <p:cNvSpPr/>
          <p:nvPr/>
        </p:nvSpPr>
        <p:spPr>
          <a:xfrm>
            <a:off x="1371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7"/>
          <p:cNvSpPr/>
          <p:nvPr/>
        </p:nvSpPr>
        <p:spPr>
          <a:xfrm>
            <a:off x="1828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7"/>
          <p:cNvSpPr/>
          <p:nvPr/>
        </p:nvSpPr>
        <p:spPr>
          <a:xfrm>
            <a:off x="2286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7"/>
          <p:cNvSpPr/>
          <p:nvPr/>
        </p:nvSpPr>
        <p:spPr>
          <a:xfrm>
            <a:off x="27432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7"/>
          <p:cNvSpPr/>
          <p:nvPr/>
        </p:nvSpPr>
        <p:spPr>
          <a:xfrm>
            <a:off x="32004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7"/>
          <p:cNvSpPr/>
          <p:nvPr/>
        </p:nvSpPr>
        <p:spPr>
          <a:xfrm>
            <a:off x="36576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7"/>
          <p:cNvSpPr/>
          <p:nvPr/>
        </p:nvSpPr>
        <p:spPr>
          <a:xfrm>
            <a:off x="41148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7"/>
          <p:cNvSpPr/>
          <p:nvPr/>
        </p:nvSpPr>
        <p:spPr>
          <a:xfrm>
            <a:off x="45720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7"/>
          <p:cNvSpPr/>
          <p:nvPr/>
        </p:nvSpPr>
        <p:spPr>
          <a:xfrm>
            <a:off x="5029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7"/>
          <p:cNvSpPr/>
          <p:nvPr/>
        </p:nvSpPr>
        <p:spPr>
          <a:xfrm>
            <a:off x="5486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7"/>
          <p:cNvSpPr/>
          <p:nvPr/>
        </p:nvSpPr>
        <p:spPr>
          <a:xfrm>
            <a:off x="5943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7"/>
          <p:cNvSpPr/>
          <p:nvPr/>
        </p:nvSpPr>
        <p:spPr>
          <a:xfrm>
            <a:off x="6400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7"/>
          <p:cNvSpPr/>
          <p:nvPr/>
        </p:nvSpPr>
        <p:spPr>
          <a:xfrm>
            <a:off x="6858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7"/>
          <p:cNvSpPr/>
          <p:nvPr/>
        </p:nvSpPr>
        <p:spPr>
          <a:xfrm>
            <a:off x="73152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7"/>
          <p:cNvSpPr/>
          <p:nvPr/>
        </p:nvSpPr>
        <p:spPr>
          <a:xfrm>
            <a:off x="77724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7"/>
          <p:cNvSpPr/>
          <p:nvPr/>
        </p:nvSpPr>
        <p:spPr>
          <a:xfrm>
            <a:off x="82296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7"/>
          <p:cNvSpPr/>
          <p:nvPr/>
        </p:nvSpPr>
        <p:spPr>
          <a:xfrm>
            <a:off x="86868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7"/>
          <p:cNvSpPr/>
          <p:nvPr/>
        </p:nvSpPr>
        <p:spPr>
          <a:xfrm>
            <a:off x="91440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7"/>
          <p:cNvSpPr/>
          <p:nvPr/>
        </p:nvSpPr>
        <p:spPr>
          <a:xfrm>
            <a:off x="9601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7"/>
          <p:cNvSpPr/>
          <p:nvPr/>
        </p:nvSpPr>
        <p:spPr>
          <a:xfrm>
            <a:off x="10058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7"/>
          <p:cNvSpPr/>
          <p:nvPr/>
        </p:nvSpPr>
        <p:spPr>
          <a:xfrm>
            <a:off x="10515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7"/>
          <p:cNvSpPr/>
          <p:nvPr/>
        </p:nvSpPr>
        <p:spPr>
          <a:xfrm>
            <a:off x="10972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7"/>
          <p:cNvSpPr/>
          <p:nvPr/>
        </p:nvSpPr>
        <p:spPr>
          <a:xfrm>
            <a:off x="11430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7"/>
          <p:cNvSpPr/>
          <p:nvPr/>
        </p:nvSpPr>
        <p:spPr>
          <a:xfrm>
            <a:off x="320040" y="6419088"/>
            <a:ext cx="4114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BONOBO EXPRESS // AUTOMATED FOOD HUB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7"/>
          <p:cNvSpPr/>
          <p:nvPr/>
        </p:nvSpPr>
        <p:spPr>
          <a:xfrm>
            <a:off x="585216" y="530352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F3F4ED"/>
                </a:solidFill>
                <a:latin typeface="Play"/>
                <a:ea typeface="Play"/>
                <a:cs typeface="Play"/>
                <a:sym typeface="Play"/>
              </a:rPr>
              <a:t>Pipeline di sviluppo: come abbiamo assemblato il sito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7"/>
          <p:cNvSpPr/>
          <p:nvPr/>
        </p:nvSpPr>
        <p:spPr>
          <a:xfrm>
            <a:off x="585216" y="1152144"/>
            <a:ext cx="1280160" cy="73152"/>
          </a:xfrm>
          <a:prstGeom prst="rect">
            <a:avLst/>
          </a:prstGeom>
          <a:solidFill>
            <a:srgbClr val="FF7A00"/>
          </a:solidFill>
          <a:ln cap="flat" cmpd="sng" w="12700">
            <a:solidFill>
              <a:srgbClr val="FF7A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7"/>
          <p:cNvSpPr/>
          <p:nvPr/>
        </p:nvSpPr>
        <p:spPr>
          <a:xfrm>
            <a:off x="1956816" y="1069848"/>
            <a:ext cx="6766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Una timeline chiara rende visibile il lavoro dietro la build finale.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6" name="Google Shape;376;p7"/>
          <p:cNvCxnSpPr/>
          <p:nvPr/>
        </p:nvCxnSpPr>
        <p:spPr>
          <a:xfrm>
            <a:off x="2286000" y="2971800"/>
            <a:ext cx="1463040" cy="0"/>
          </a:xfrm>
          <a:prstGeom prst="straightConnector1">
            <a:avLst/>
          </a:prstGeom>
          <a:noFill/>
          <a:ln cap="flat" cmpd="sng" w="38100">
            <a:solidFill>
              <a:srgbClr val="60695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7" name="Google Shape;377;p7"/>
          <p:cNvCxnSpPr/>
          <p:nvPr/>
        </p:nvCxnSpPr>
        <p:spPr>
          <a:xfrm>
            <a:off x="4983480" y="2971800"/>
            <a:ext cx="1463040" cy="0"/>
          </a:xfrm>
          <a:prstGeom prst="straightConnector1">
            <a:avLst/>
          </a:prstGeom>
          <a:noFill/>
          <a:ln cap="flat" cmpd="sng" w="38100">
            <a:solidFill>
              <a:srgbClr val="60695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8" name="Google Shape;378;p7"/>
          <p:cNvCxnSpPr/>
          <p:nvPr/>
        </p:nvCxnSpPr>
        <p:spPr>
          <a:xfrm>
            <a:off x="7726680" y="2971800"/>
            <a:ext cx="1463040" cy="0"/>
          </a:xfrm>
          <a:prstGeom prst="straightConnector1">
            <a:avLst/>
          </a:prstGeom>
          <a:noFill/>
          <a:ln cap="flat" cmpd="sng" w="38100">
            <a:solidFill>
              <a:srgbClr val="6069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9" name="Google Shape;379;p7"/>
          <p:cNvSpPr/>
          <p:nvPr/>
        </p:nvSpPr>
        <p:spPr>
          <a:xfrm>
            <a:off x="685800" y="2240280"/>
            <a:ext cx="1600200" cy="1463040"/>
          </a:xfrm>
          <a:prstGeom prst="roundRect">
            <a:avLst>
              <a:gd fmla="val 16667" name="adj"/>
            </a:avLst>
          </a:prstGeom>
          <a:solidFill>
            <a:srgbClr val="1C211B"/>
          </a:solidFill>
          <a:ln cap="flat" cmpd="sng" w="15225">
            <a:solidFill>
              <a:srgbClr val="FFD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Settimana </a:t>
            </a:r>
            <a:r>
              <a:rPr b="1" lang="en-US" sz="1500">
                <a:solidFill>
                  <a:srgbClr val="F3F4ED"/>
                </a:solidFill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Analisi &amp; pianificazione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7"/>
          <p:cNvSpPr/>
          <p:nvPr/>
        </p:nvSpPr>
        <p:spPr>
          <a:xfrm>
            <a:off x="3703320" y="2240280"/>
            <a:ext cx="1691640" cy="1463040"/>
          </a:xfrm>
          <a:prstGeom prst="roundRect">
            <a:avLst>
              <a:gd fmla="val 16667" name="adj"/>
            </a:avLst>
          </a:prstGeom>
          <a:solidFill>
            <a:srgbClr val="1C211B"/>
          </a:solidFill>
          <a:ln cap="flat" cmpd="sng" w="15225">
            <a:solidFill>
              <a:srgbClr val="FF7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Settimana </a:t>
            </a:r>
            <a:r>
              <a:rPr b="1" lang="en-US" sz="1500">
                <a:solidFill>
                  <a:srgbClr val="F3F4ED"/>
                </a:solidFill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Sviluppo client side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7"/>
          <p:cNvSpPr/>
          <p:nvPr/>
        </p:nvSpPr>
        <p:spPr>
          <a:xfrm>
            <a:off x="6428232" y="2240280"/>
            <a:ext cx="1783080" cy="1463040"/>
          </a:xfrm>
          <a:prstGeom prst="roundRect">
            <a:avLst>
              <a:gd fmla="val 16667" name="adj"/>
            </a:avLst>
          </a:prstGeom>
          <a:solidFill>
            <a:srgbClr val="1C211B"/>
          </a:solidFill>
          <a:ln cap="flat" cmpd="sng" w="15225">
            <a:solidFill>
              <a:srgbClr val="7A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Settimana </a:t>
            </a:r>
            <a:r>
              <a:rPr b="1" lang="en-US" sz="1500">
                <a:solidFill>
                  <a:srgbClr val="F3F4ED"/>
                </a:solidFill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Database &amp; admin panel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7"/>
          <p:cNvSpPr/>
          <p:nvPr/>
        </p:nvSpPr>
        <p:spPr>
          <a:xfrm>
            <a:off x="9171432" y="2240280"/>
            <a:ext cx="1783080" cy="1463040"/>
          </a:xfrm>
          <a:prstGeom prst="roundRect">
            <a:avLst>
              <a:gd fmla="val 16667" name="adj"/>
            </a:avLst>
          </a:prstGeom>
          <a:solidFill>
            <a:srgbClr val="1C211B"/>
          </a:solidFill>
          <a:ln cap="flat" cmpd="sng" w="15225">
            <a:solidFill>
              <a:srgbClr val="FFD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Settimana </a:t>
            </a:r>
            <a:r>
              <a:rPr b="1" lang="en-US" sz="1500">
                <a:solidFill>
                  <a:srgbClr val="F3F4ED"/>
                </a:solidFill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Test &amp; deployment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7"/>
          <p:cNvSpPr/>
          <p:nvPr/>
        </p:nvSpPr>
        <p:spPr>
          <a:xfrm>
            <a:off x="1828800" y="5532120"/>
            <a:ext cx="8138160" cy="658368"/>
          </a:xfrm>
          <a:prstGeom prst="rect">
            <a:avLst/>
          </a:prstGeom>
          <a:solidFill>
            <a:srgbClr val="050605"/>
          </a:solidFill>
          <a:ln cap="flat" cmpd="sng" w="12700">
            <a:solidFill>
              <a:srgbClr val="6069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7AC74F"/>
                </a:solidFill>
                <a:latin typeface="Consolas"/>
                <a:ea typeface="Consolas"/>
                <a:cs typeface="Consolas"/>
                <a:sym typeface="Consolas"/>
              </a:rPr>
              <a:t>&gt; INPUT: requisiti validati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7AC74F"/>
                </a:solidFill>
                <a:latin typeface="Consolas"/>
                <a:ea typeface="Consolas"/>
                <a:cs typeface="Consolas"/>
                <a:sym typeface="Consolas"/>
              </a:rPr>
              <a:t>&gt; PROCESSO: build asincrona + sincronizzazione settimanale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7AC74F"/>
                </a:solidFill>
                <a:latin typeface="Consolas"/>
                <a:ea typeface="Consolas"/>
                <a:cs typeface="Consolas"/>
                <a:sym typeface="Consolas"/>
              </a:rPr>
              <a:t>&gt; OUTPUT: prototipo pronto al collaudo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0A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8"/>
          <p:cNvSpPr/>
          <p:nvPr/>
        </p:nvSpPr>
        <p:spPr>
          <a:xfrm>
            <a:off x="320040" y="146304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FICSIT PROPERTY - DO NOT DUPLICATE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8"/>
          <p:cNvSpPr/>
          <p:nvPr/>
        </p:nvSpPr>
        <p:spPr>
          <a:xfrm>
            <a:off x="7315200" y="109728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7A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7A00"/>
                </a:solidFill>
                <a:latin typeface="Arial"/>
                <a:ea typeface="Arial"/>
                <a:cs typeface="Arial"/>
                <a:sym typeface="Arial"/>
              </a:rPr>
              <a:t>FUNZIONALITÀ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8"/>
          <p:cNvSpPr/>
          <p:nvPr/>
        </p:nvSpPr>
        <p:spPr>
          <a:xfrm>
            <a:off x="10652760" y="731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D3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D300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8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FF7A00"/>
          </a:solidFill>
          <a:ln cap="flat" cmpd="sng" w="12700">
            <a:solidFill>
              <a:srgbClr val="FF7A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8"/>
          <p:cNvSpPr/>
          <p:nvPr/>
        </p:nvSpPr>
        <p:spPr>
          <a:xfrm>
            <a:off x="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8"/>
          <p:cNvSpPr/>
          <p:nvPr/>
        </p:nvSpPr>
        <p:spPr>
          <a:xfrm>
            <a:off x="457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8"/>
          <p:cNvSpPr/>
          <p:nvPr/>
        </p:nvSpPr>
        <p:spPr>
          <a:xfrm>
            <a:off x="914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8"/>
          <p:cNvSpPr/>
          <p:nvPr/>
        </p:nvSpPr>
        <p:spPr>
          <a:xfrm>
            <a:off x="1371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8"/>
          <p:cNvSpPr/>
          <p:nvPr/>
        </p:nvSpPr>
        <p:spPr>
          <a:xfrm>
            <a:off x="1828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8"/>
          <p:cNvSpPr/>
          <p:nvPr/>
        </p:nvSpPr>
        <p:spPr>
          <a:xfrm>
            <a:off x="2286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8"/>
          <p:cNvSpPr/>
          <p:nvPr/>
        </p:nvSpPr>
        <p:spPr>
          <a:xfrm>
            <a:off x="27432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8"/>
          <p:cNvSpPr/>
          <p:nvPr/>
        </p:nvSpPr>
        <p:spPr>
          <a:xfrm>
            <a:off x="32004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8"/>
          <p:cNvSpPr/>
          <p:nvPr/>
        </p:nvSpPr>
        <p:spPr>
          <a:xfrm>
            <a:off x="36576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8"/>
          <p:cNvSpPr/>
          <p:nvPr/>
        </p:nvSpPr>
        <p:spPr>
          <a:xfrm>
            <a:off x="41148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8"/>
          <p:cNvSpPr/>
          <p:nvPr/>
        </p:nvSpPr>
        <p:spPr>
          <a:xfrm>
            <a:off x="45720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8"/>
          <p:cNvSpPr/>
          <p:nvPr/>
        </p:nvSpPr>
        <p:spPr>
          <a:xfrm>
            <a:off x="5029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8"/>
          <p:cNvSpPr/>
          <p:nvPr/>
        </p:nvSpPr>
        <p:spPr>
          <a:xfrm>
            <a:off x="5486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8"/>
          <p:cNvSpPr/>
          <p:nvPr/>
        </p:nvSpPr>
        <p:spPr>
          <a:xfrm>
            <a:off x="5943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8"/>
          <p:cNvSpPr/>
          <p:nvPr/>
        </p:nvSpPr>
        <p:spPr>
          <a:xfrm>
            <a:off x="6400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8"/>
          <p:cNvSpPr/>
          <p:nvPr/>
        </p:nvSpPr>
        <p:spPr>
          <a:xfrm>
            <a:off x="6858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8"/>
          <p:cNvSpPr/>
          <p:nvPr/>
        </p:nvSpPr>
        <p:spPr>
          <a:xfrm>
            <a:off x="73152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8"/>
          <p:cNvSpPr/>
          <p:nvPr/>
        </p:nvSpPr>
        <p:spPr>
          <a:xfrm>
            <a:off x="77724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8"/>
          <p:cNvSpPr/>
          <p:nvPr/>
        </p:nvSpPr>
        <p:spPr>
          <a:xfrm>
            <a:off x="82296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8"/>
          <p:cNvSpPr/>
          <p:nvPr/>
        </p:nvSpPr>
        <p:spPr>
          <a:xfrm>
            <a:off x="86868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8"/>
          <p:cNvSpPr/>
          <p:nvPr/>
        </p:nvSpPr>
        <p:spPr>
          <a:xfrm>
            <a:off x="91440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8"/>
          <p:cNvSpPr/>
          <p:nvPr/>
        </p:nvSpPr>
        <p:spPr>
          <a:xfrm>
            <a:off x="9601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8"/>
          <p:cNvSpPr/>
          <p:nvPr/>
        </p:nvSpPr>
        <p:spPr>
          <a:xfrm>
            <a:off x="10058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8"/>
          <p:cNvSpPr/>
          <p:nvPr/>
        </p:nvSpPr>
        <p:spPr>
          <a:xfrm>
            <a:off x="10515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8"/>
          <p:cNvSpPr/>
          <p:nvPr/>
        </p:nvSpPr>
        <p:spPr>
          <a:xfrm>
            <a:off x="10972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8"/>
          <p:cNvSpPr/>
          <p:nvPr/>
        </p:nvSpPr>
        <p:spPr>
          <a:xfrm>
            <a:off x="11430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8"/>
          <p:cNvSpPr/>
          <p:nvPr/>
        </p:nvSpPr>
        <p:spPr>
          <a:xfrm>
            <a:off x="320040" y="6419088"/>
            <a:ext cx="4114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BONOBO EXPRESS // AUTOMATED FOOD HUB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8"/>
          <p:cNvSpPr/>
          <p:nvPr/>
        </p:nvSpPr>
        <p:spPr>
          <a:xfrm>
            <a:off x="585216" y="530352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F3F4ED"/>
                </a:solidFill>
                <a:latin typeface="Play"/>
                <a:ea typeface="Play"/>
                <a:cs typeface="Play"/>
                <a:sym typeface="Play"/>
              </a:rPr>
              <a:t>Cosa vede il cliente, cosa controlla l’admin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8"/>
          <p:cNvSpPr/>
          <p:nvPr/>
        </p:nvSpPr>
        <p:spPr>
          <a:xfrm>
            <a:off x="585216" y="1152144"/>
            <a:ext cx="1280160" cy="73152"/>
          </a:xfrm>
          <a:prstGeom prst="rect">
            <a:avLst/>
          </a:prstGeom>
          <a:solidFill>
            <a:srgbClr val="FF7A00"/>
          </a:solidFill>
          <a:ln cap="flat" cmpd="sng" w="12700">
            <a:solidFill>
              <a:srgbClr val="FF7A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8"/>
          <p:cNvSpPr/>
          <p:nvPr/>
        </p:nvSpPr>
        <p:spPr>
          <a:xfrm>
            <a:off x="1956816" y="1069848"/>
            <a:ext cx="6766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La documentazione ha guidato la divisione tra esperienza pubblica e area riservata.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8"/>
          <p:cNvSpPr/>
          <p:nvPr/>
        </p:nvSpPr>
        <p:spPr>
          <a:xfrm>
            <a:off x="777240" y="160020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00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FFD300"/>
                </a:solidFill>
                <a:latin typeface="Play"/>
                <a:ea typeface="Play"/>
                <a:cs typeface="Play"/>
                <a:sym typeface="Play"/>
              </a:rPr>
              <a:t>CLIENTE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4" name="Google Shape;424;p8"/>
          <p:cNvCxnSpPr/>
          <p:nvPr/>
        </p:nvCxnSpPr>
        <p:spPr>
          <a:xfrm>
            <a:off x="1645920" y="2560320"/>
            <a:ext cx="8321040" cy="0"/>
          </a:xfrm>
          <a:prstGeom prst="straightConnector1">
            <a:avLst/>
          </a:prstGeom>
          <a:noFill/>
          <a:ln cap="flat" cmpd="sng" w="38100">
            <a:solidFill>
              <a:srgbClr val="FFD3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5" name="Google Shape;425;p8"/>
          <p:cNvSpPr/>
          <p:nvPr/>
        </p:nvSpPr>
        <p:spPr>
          <a:xfrm>
            <a:off x="914400" y="2057400"/>
            <a:ext cx="1508760" cy="1005840"/>
          </a:xfrm>
          <a:prstGeom prst="roundRect">
            <a:avLst>
              <a:gd fmla="val 16667" name="adj"/>
            </a:avLst>
          </a:prstGeom>
          <a:solidFill>
            <a:srgbClr val="252B23"/>
          </a:solidFill>
          <a:ln cap="flat" cmpd="sng" w="15225">
            <a:solidFill>
              <a:srgbClr val="FFD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Prenota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con controlli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8"/>
          <p:cNvSpPr/>
          <p:nvPr/>
        </p:nvSpPr>
        <p:spPr>
          <a:xfrm>
            <a:off x="2971800" y="2057400"/>
            <a:ext cx="1508760" cy="1005840"/>
          </a:xfrm>
          <a:prstGeom prst="roundRect">
            <a:avLst>
              <a:gd fmla="val 16667" name="adj"/>
            </a:avLst>
          </a:prstGeom>
          <a:solidFill>
            <a:srgbClr val="252B23"/>
          </a:solidFill>
          <a:ln cap="flat" cmpd="sng" w="15225">
            <a:solidFill>
              <a:srgbClr val="FFD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Ordina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dal tavolo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8"/>
          <p:cNvSpPr/>
          <p:nvPr/>
        </p:nvSpPr>
        <p:spPr>
          <a:xfrm>
            <a:off x="5029200" y="2057400"/>
            <a:ext cx="1691640" cy="1005840"/>
          </a:xfrm>
          <a:prstGeom prst="roundRect">
            <a:avLst>
              <a:gd fmla="val 16667" name="adj"/>
            </a:avLst>
          </a:prstGeom>
          <a:solidFill>
            <a:srgbClr val="252B23"/>
          </a:solidFill>
          <a:ln cap="flat" cmpd="sng" w="15225">
            <a:solidFill>
              <a:srgbClr val="FFD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Recensione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verificata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8"/>
          <p:cNvSpPr/>
          <p:nvPr/>
        </p:nvSpPr>
        <p:spPr>
          <a:xfrm>
            <a:off x="7269480" y="2057400"/>
            <a:ext cx="1508760" cy="1005840"/>
          </a:xfrm>
          <a:prstGeom prst="roundRect">
            <a:avLst>
              <a:gd fmla="val 16667" name="adj"/>
            </a:avLst>
          </a:prstGeom>
          <a:solidFill>
            <a:srgbClr val="252B23"/>
          </a:solidFill>
          <a:ln cap="flat" cmpd="sng" w="15225">
            <a:solidFill>
              <a:srgbClr val="FFD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Feedback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pubblico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8"/>
          <p:cNvSpPr/>
          <p:nvPr/>
        </p:nvSpPr>
        <p:spPr>
          <a:xfrm>
            <a:off x="777240" y="365760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00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FF7A00"/>
                </a:solidFill>
                <a:latin typeface="Play"/>
                <a:ea typeface="Play"/>
                <a:cs typeface="Play"/>
                <a:sym typeface="Play"/>
              </a:rPr>
              <a:t>ADMIN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0" name="Google Shape;430;p8"/>
          <p:cNvCxnSpPr/>
          <p:nvPr/>
        </p:nvCxnSpPr>
        <p:spPr>
          <a:xfrm>
            <a:off x="1645920" y="4617720"/>
            <a:ext cx="8321040" cy="0"/>
          </a:xfrm>
          <a:prstGeom prst="straightConnector1">
            <a:avLst/>
          </a:prstGeom>
          <a:noFill/>
          <a:ln cap="flat" cmpd="sng" w="38100">
            <a:solidFill>
              <a:srgbClr val="FF7A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1" name="Google Shape;431;p8"/>
          <p:cNvSpPr/>
          <p:nvPr/>
        </p:nvSpPr>
        <p:spPr>
          <a:xfrm>
            <a:off x="914400" y="4114800"/>
            <a:ext cx="1508760" cy="1005840"/>
          </a:xfrm>
          <a:prstGeom prst="roundRect">
            <a:avLst>
              <a:gd fmla="val 16667" name="adj"/>
            </a:avLst>
          </a:prstGeom>
          <a:solidFill>
            <a:srgbClr val="252B23"/>
          </a:solidFill>
          <a:ln cap="flat" cmpd="sng" w="15225">
            <a:solidFill>
              <a:srgbClr val="FF7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Login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sicuro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8"/>
          <p:cNvSpPr/>
          <p:nvPr/>
        </p:nvSpPr>
        <p:spPr>
          <a:xfrm>
            <a:off x="2971800" y="4114800"/>
            <a:ext cx="1508760" cy="1005840"/>
          </a:xfrm>
          <a:prstGeom prst="roundRect">
            <a:avLst>
              <a:gd fmla="val 16667" name="adj"/>
            </a:avLst>
          </a:prstGeom>
          <a:solidFill>
            <a:srgbClr val="252B23"/>
          </a:solidFill>
          <a:ln cap="flat" cmpd="sng" w="15225">
            <a:solidFill>
              <a:srgbClr val="FF7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realtime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8"/>
          <p:cNvSpPr/>
          <p:nvPr/>
        </p:nvSpPr>
        <p:spPr>
          <a:xfrm>
            <a:off x="5029200" y="4114800"/>
            <a:ext cx="1691640" cy="1005840"/>
          </a:xfrm>
          <a:prstGeom prst="roundRect">
            <a:avLst>
              <a:gd fmla="val 16667" name="adj"/>
            </a:avLst>
          </a:prstGeom>
          <a:solidFill>
            <a:srgbClr val="252B23"/>
          </a:solidFill>
          <a:ln cap="flat" cmpd="sng" w="15225">
            <a:solidFill>
              <a:srgbClr val="FF7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Menù / ordini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prenotazioni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8"/>
          <p:cNvSpPr/>
          <p:nvPr/>
        </p:nvSpPr>
        <p:spPr>
          <a:xfrm>
            <a:off x="7269480" y="4114800"/>
            <a:ext cx="1691640" cy="1005840"/>
          </a:xfrm>
          <a:prstGeom prst="roundRect">
            <a:avLst>
              <a:gd fmla="val 16667" name="adj"/>
            </a:avLst>
          </a:prstGeom>
          <a:solidFill>
            <a:srgbClr val="252B23"/>
          </a:solidFill>
          <a:ln cap="flat" cmpd="sng" w="15225">
            <a:solidFill>
              <a:srgbClr val="FF7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Moderazione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recensioni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8"/>
          <p:cNvSpPr/>
          <p:nvPr/>
        </p:nvSpPr>
        <p:spPr>
          <a:xfrm>
            <a:off x="914400" y="5715000"/>
            <a:ext cx="7315200" cy="402336"/>
          </a:xfrm>
          <a:prstGeom prst="rect">
            <a:avLst/>
          </a:prstGeom>
          <a:solidFill>
            <a:srgbClr val="050605"/>
          </a:solidFill>
          <a:ln cap="flat" cmpd="sng" w="12700">
            <a:solidFill>
              <a:srgbClr val="6069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7AC74F"/>
                </a:solidFill>
                <a:latin typeface="Consolas"/>
                <a:ea typeface="Consolas"/>
                <a:cs typeface="Consolas"/>
                <a:sym typeface="Consolas"/>
              </a:rPr>
              <a:t>&gt; RISULTATO: due percorsi separati, stesso storage operativo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0A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9"/>
          <p:cNvSpPr/>
          <p:nvPr/>
        </p:nvSpPr>
        <p:spPr>
          <a:xfrm>
            <a:off x="320040" y="146304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FICSIT PROPERTY - DO NOT DUPLICATE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9"/>
          <p:cNvSpPr/>
          <p:nvPr/>
        </p:nvSpPr>
        <p:spPr>
          <a:xfrm>
            <a:off x="7315200" y="109728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7A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7A00"/>
                </a:solidFill>
                <a:latin typeface="Arial"/>
                <a:ea typeface="Arial"/>
                <a:cs typeface="Arial"/>
                <a:sym typeface="Arial"/>
              </a:rPr>
              <a:t>VALIDAZIONE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9"/>
          <p:cNvSpPr/>
          <p:nvPr/>
        </p:nvSpPr>
        <p:spPr>
          <a:xfrm>
            <a:off x="10652760" y="731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D3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D300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9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FF7A00"/>
          </a:solidFill>
          <a:ln cap="flat" cmpd="sng" w="12700">
            <a:solidFill>
              <a:srgbClr val="FF7A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9"/>
          <p:cNvSpPr/>
          <p:nvPr/>
        </p:nvSpPr>
        <p:spPr>
          <a:xfrm>
            <a:off x="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9"/>
          <p:cNvSpPr/>
          <p:nvPr/>
        </p:nvSpPr>
        <p:spPr>
          <a:xfrm>
            <a:off x="457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9"/>
          <p:cNvSpPr/>
          <p:nvPr/>
        </p:nvSpPr>
        <p:spPr>
          <a:xfrm>
            <a:off x="914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9"/>
          <p:cNvSpPr/>
          <p:nvPr/>
        </p:nvSpPr>
        <p:spPr>
          <a:xfrm>
            <a:off x="1371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9"/>
          <p:cNvSpPr/>
          <p:nvPr/>
        </p:nvSpPr>
        <p:spPr>
          <a:xfrm>
            <a:off x="1828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9"/>
          <p:cNvSpPr/>
          <p:nvPr/>
        </p:nvSpPr>
        <p:spPr>
          <a:xfrm>
            <a:off x="2286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9"/>
          <p:cNvSpPr/>
          <p:nvPr/>
        </p:nvSpPr>
        <p:spPr>
          <a:xfrm>
            <a:off x="27432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9"/>
          <p:cNvSpPr/>
          <p:nvPr/>
        </p:nvSpPr>
        <p:spPr>
          <a:xfrm>
            <a:off x="32004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9"/>
          <p:cNvSpPr/>
          <p:nvPr/>
        </p:nvSpPr>
        <p:spPr>
          <a:xfrm>
            <a:off x="36576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9"/>
          <p:cNvSpPr/>
          <p:nvPr/>
        </p:nvSpPr>
        <p:spPr>
          <a:xfrm>
            <a:off x="41148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9"/>
          <p:cNvSpPr/>
          <p:nvPr/>
        </p:nvSpPr>
        <p:spPr>
          <a:xfrm>
            <a:off x="45720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9"/>
          <p:cNvSpPr/>
          <p:nvPr/>
        </p:nvSpPr>
        <p:spPr>
          <a:xfrm>
            <a:off x="5029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9"/>
          <p:cNvSpPr/>
          <p:nvPr/>
        </p:nvSpPr>
        <p:spPr>
          <a:xfrm>
            <a:off x="5486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9"/>
          <p:cNvSpPr/>
          <p:nvPr/>
        </p:nvSpPr>
        <p:spPr>
          <a:xfrm>
            <a:off x="5943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9"/>
          <p:cNvSpPr/>
          <p:nvPr/>
        </p:nvSpPr>
        <p:spPr>
          <a:xfrm>
            <a:off x="6400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9"/>
          <p:cNvSpPr/>
          <p:nvPr/>
        </p:nvSpPr>
        <p:spPr>
          <a:xfrm>
            <a:off x="6858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9"/>
          <p:cNvSpPr/>
          <p:nvPr/>
        </p:nvSpPr>
        <p:spPr>
          <a:xfrm>
            <a:off x="73152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9"/>
          <p:cNvSpPr/>
          <p:nvPr/>
        </p:nvSpPr>
        <p:spPr>
          <a:xfrm>
            <a:off x="77724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9"/>
          <p:cNvSpPr/>
          <p:nvPr/>
        </p:nvSpPr>
        <p:spPr>
          <a:xfrm>
            <a:off x="82296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9"/>
          <p:cNvSpPr/>
          <p:nvPr/>
        </p:nvSpPr>
        <p:spPr>
          <a:xfrm>
            <a:off x="86868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9"/>
          <p:cNvSpPr/>
          <p:nvPr/>
        </p:nvSpPr>
        <p:spPr>
          <a:xfrm>
            <a:off x="91440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9"/>
          <p:cNvSpPr/>
          <p:nvPr/>
        </p:nvSpPr>
        <p:spPr>
          <a:xfrm>
            <a:off x="9601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9"/>
          <p:cNvSpPr/>
          <p:nvPr/>
        </p:nvSpPr>
        <p:spPr>
          <a:xfrm>
            <a:off x="10058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9"/>
          <p:cNvSpPr/>
          <p:nvPr/>
        </p:nvSpPr>
        <p:spPr>
          <a:xfrm>
            <a:off x="10515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9"/>
          <p:cNvSpPr/>
          <p:nvPr/>
        </p:nvSpPr>
        <p:spPr>
          <a:xfrm>
            <a:off x="10972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9"/>
          <p:cNvSpPr/>
          <p:nvPr/>
        </p:nvSpPr>
        <p:spPr>
          <a:xfrm>
            <a:off x="11430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9"/>
          <p:cNvSpPr/>
          <p:nvPr/>
        </p:nvSpPr>
        <p:spPr>
          <a:xfrm>
            <a:off x="320040" y="6419088"/>
            <a:ext cx="4114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BONOBO EXPRESS // AUTOMATED FOOD HUB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9"/>
          <p:cNvSpPr/>
          <p:nvPr/>
        </p:nvSpPr>
        <p:spPr>
          <a:xfrm>
            <a:off x="585216" y="530352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F3F4ED"/>
                </a:solidFill>
                <a:latin typeface="Play"/>
                <a:ea typeface="Play"/>
                <a:cs typeface="Play"/>
                <a:sym typeface="Play"/>
              </a:rPr>
              <a:t>Collaudo: cosa abbiamo verificato prima della consegna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9"/>
          <p:cNvSpPr/>
          <p:nvPr/>
        </p:nvSpPr>
        <p:spPr>
          <a:xfrm>
            <a:off x="585216" y="1152144"/>
            <a:ext cx="1280160" cy="73152"/>
          </a:xfrm>
          <a:prstGeom prst="rect">
            <a:avLst/>
          </a:prstGeom>
          <a:solidFill>
            <a:srgbClr val="FF7A00"/>
          </a:solidFill>
          <a:ln cap="flat" cmpd="sng" w="12700">
            <a:solidFill>
              <a:srgbClr val="FF7A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9"/>
          <p:cNvSpPr/>
          <p:nvPr/>
        </p:nvSpPr>
        <p:spPr>
          <a:xfrm>
            <a:off x="777240" y="160020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00"/>
              </a:buClr>
              <a:buSzPts val="1750"/>
              <a:buFont typeface="Play"/>
              <a:buNone/>
            </a:pPr>
            <a:r>
              <a:rPr b="1" i="0" lang="en-US" sz="1750" u="none" cap="none" strike="noStrike">
                <a:solidFill>
                  <a:srgbClr val="FFD300"/>
                </a:solidFill>
                <a:latin typeface="Play"/>
                <a:ea typeface="Play"/>
                <a:cs typeface="Play"/>
                <a:sym typeface="Play"/>
              </a:rPr>
              <a:t>Dati validi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9"/>
          <p:cNvSpPr/>
          <p:nvPr/>
        </p:nvSpPr>
        <p:spPr>
          <a:xfrm>
            <a:off x="2788920" y="1618488"/>
            <a:ext cx="47548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controlli su prenotazioni, date, orari e disponibilità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9"/>
          <p:cNvSpPr/>
          <p:nvPr/>
        </p:nvSpPr>
        <p:spPr>
          <a:xfrm>
            <a:off x="8503920" y="1572768"/>
            <a:ext cx="731520" cy="329184"/>
          </a:xfrm>
          <a:prstGeom prst="rect">
            <a:avLst/>
          </a:prstGeom>
          <a:solidFill>
            <a:srgbClr val="0E1D12"/>
          </a:solidFill>
          <a:ln cap="flat" cmpd="sng" w="12700">
            <a:solidFill>
              <a:srgbClr val="7A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7AC74F"/>
                </a:solidFill>
                <a:latin typeface="Play"/>
                <a:ea typeface="Play"/>
                <a:cs typeface="Play"/>
                <a:sym typeface="Play"/>
              </a:rPr>
              <a:t>OK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7" name="Google Shape;477;p9"/>
          <p:cNvCxnSpPr/>
          <p:nvPr/>
        </p:nvCxnSpPr>
        <p:spPr>
          <a:xfrm>
            <a:off x="777240" y="2075688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D34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8" name="Google Shape;478;p9"/>
          <p:cNvSpPr/>
          <p:nvPr/>
        </p:nvSpPr>
        <p:spPr>
          <a:xfrm>
            <a:off x="777240" y="237744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00"/>
              </a:buClr>
              <a:buSzPts val="1750"/>
              <a:buFont typeface="Play"/>
              <a:buNone/>
            </a:pPr>
            <a:r>
              <a:rPr b="1" i="0" lang="en-US" sz="1750" u="none" cap="none" strike="noStrike">
                <a:solidFill>
                  <a:srgbClr val="FF7A00"/>
                </a:solidFill>
                <a:latin typeface="Play"/>
                <a:ea typeface="Play"/>
                <a:cs typeface="Play"/>
                <a:sym typeface="Play"/>
              </a:rPr>
              <a:t>Persistenza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9"/>
          <p:cNvSpPr/>
          <p:nvPr/>
        </p:nvSpPr>
        <p:spPr>
          <a:xfrm>
            <a:off x="2788920" y="2395728"/>
            <a:ext cx="47548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salvataggio di menu, prenotazioni, ordini e recensioni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9"/>
          <p:cNvSpPr/>
          <p:nvPr/>
        </p:nvSpPr>
        <p:spPr>
          <a:xfrm>
            <a:off x="8503920" y="2350008"/>
            <a:ext cx="731520" cy="329184"/>
          </a:xfrm>
          <a:prstGeom prst="rect">
            <a:avLst/>
          </a:prstGeom>
          <a:solidFill>
            <a:srgbClr val="0E1D12"/>
          </a:solidFill>
          <a:ln cap="flat" cmpd="sng" w="12700">
            <a:solidFill>
              <a:srgbClr val="7A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7AC74F"/>
                </a:solidFill>
                <a:latin typeface="Play"/>
                <a:ea typeface="Play"/>
                <a:cs typeface="Play"/>
                <a:sym typeface="Play"/>
              </a:rPr>
              <a:t>OK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1" name="Google Shape;481;p9"/>
          <p:cNvCxnSpPr/>
          <p:nvPr/>
        </p:nvCxnSpPr>
        <p:spPr>
          <a:xfrm>
            <a:off x="777240" y="2852928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D34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2" name="Google Shape;482;p9"/>
          <p:cNvSpPr/>
          <p:nvPr/>
        </p:nvSpPr>
        <p:spPr>
          <a:xfrm>
            <a:off x="777240" y="315468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750"/>
              <a:buFont typeface="Play"/>
              <a:buNone/>
            </a:pPr>
            <a:r>
              <a:rPr b="1" i="0" lang="en-US" sz="1750" u="none" cap="none" strike="noStrike">
                <a:solidFill>
                  <a:srgbClr val="7AC74F"/>
                </a:solidFill>
                <a:latin typeface="Play"/>
                <a:ea typeface="Play"/>
                <a:cs typeface="Play"/>
                <a:sym typeface="Play"/>
              </a:rPr>
              <a:t>Dashboard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9"/>
          <p:cNvSpPr/>
          <p:nvPr/>
        </p:nvSpPr>
        <p:spPr>
          <a:xfrm>
            <a:off x="2788920" y="3172968"/>
            <a:ext cx="47548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conteggio statistiche e monitoraggio operativo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9"/>
          <p:cNvSpPr/>
          <p:nvPr/>
        </p:nvSpPr>
        <p:spPr>
          <a:xfrm>
            <a:off x="8503920" y="3127248"/>
            <a:ext cx="731520" cy="329184"/>
          </a:xfrm>
          <a:prstGeom prst="rect">
            <a:avLst/>
          </a:prstGeom>
          <a:solidFill>
            <a:srgbClr val="0E1D12"/>
          </a:solidFill>
          <a:ln cap="flat" cmpd="sng" w="12700">
            <a:solidFill>
              <a:srgbClr val="7A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7AC74F"/>
                </a:solidFill>
                <a:latin typeface="Play"/>
                <a:ea typeface="Play"/>
                <a:cs typeface="Play"/>
                <a:sym typeface="Play"/>
              </a:rPr>
              <a:t>OK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5" name="Google Shape;485;p9"/>
          <p:cNvCxnSpPr/>
          <p:nvPr/>
        </p:nvCxnSpPr>
        <p:spPr>
          <a:xfrm>
            <a:off x="777240" y="3630168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D34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6" name="Google Shape;486;p9"/>
          <p:cNvSpPr/>
          <p:nvPr/>
        </p:nvSpPr>
        <p:spPr>
          <a:xfrm>
            <a:off x="777240" y="393192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00"/>
              </a:buClr>
              <a:buSzPts val="1750"/>
              <a:buFont typeface="Play"/>
              <a:buNone/>
            </a:pPr>
            <a:r>
              <a:rPr b="1" i="0" lang="en-US" sz="1750" u="none" cap="none" strike="noStrike">
                <a:solidFill>
                  <a:srgbClr val="FF7A00"/>
                </a:solidFill>
                <a:latin typeface="Play"/>
                <a:ea typeface="Play"/>
                <a:cs typeface="Play"/>
                <a:sym typeface="Play"/>
              </a:rPr>
              <a:t>Recensioni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9"/>
          <p:cNvSpPr/>
          <p:nvPr/>
        </p:nvSpPr>
        <p:spPr>
          <a:xfrm>
            <a:off x="2788920" y="3950208"/>
            <a:ext cx="47548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feedback collegati a prenotazioni reali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9"/>
          <p:cNvSpPr/>
          <p:nvPr/>
        </p:nvSpPr>
        <p:spPr>
          <a:xfrm>
            <a:off x="8503920" y="3904488"/>
            <a:ext cx="731520" cy="329184"/>
          </a:xfrm>
          <a:prstGeom prst="rect">
            <a:avLst/>
          </a:prstGeom>
          <a:solidFill>
            <a:srgbClr val="0E1D12"/>
          </a:solidFill>
          <a:ln cap="flat" cmpd="sng" w="12700">
            <a:solidFill>
              <a:srgbClr val="7A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7AC74F"/>
                </a:solidFill>
                <a:latin typeface="Play"/>
                <a:ea typeface="Play"/>
                <a:cs typeface="Play"/>
                <a:sym typeface="Play"/>
              </a:rPr>
              <a:t>OK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9" name="Google Shape;489;p9"/>
          <p:cNvCxnSpPr/>
          <p:nvPr/>
        </p:nvCxnSpPr>
        <p:spPr>
          <a:xfrm>
            <a:off x="777240" y="4407408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D34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0" name="Google Shape;490;p9"/>
          <p:cNvSpPr/>
          <p:nvPr/>
        </p:nvSpPr>
        <p:spPr>
          <a:xfrm>
            <a:off x="777240" y="470916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00"/>
              </a:buClr>
              <a:buSzPts val="1750"/>
              <a:buFont typeface="Play"/>
              <a:buNone/>
            </a:pPr>
            <a:r>
              <a:rPr b="1" i="0" lang="en-US" sz="1750" u="none" cap="none" strike="noStrike">
                <a:solidFill>
                  <a:srgbClr val="FFD300"/>
                </a:solidFill>
                <a:latin typeface="Play"/>
                <a:ea typeface="Play"/>
                <a:cs typeface="Play"/>
                <a:sym typeface="Play"/>
              </a:rPr>
              <a:t>Usabilità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9"/>
          <p:cNvSpPr/>
          <p:nvPr/>
        </p:nvSpPr>
        <p:spPr>
          <a:xfrm>
            <a:off x="2788920" y="4727448"/>
            <a:ext cx="47548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3F4ED"/>
                </a:solidFill>
                <a:latin typeface="Arial"/>
                <a:ea typeface="Arial"/>
                <a:cs typeface="Arial"/>
                <a:sym typeface="Arial"/>
              </a:rPr>
              <a:t>percorso cliente lineare e pannello admin leggibile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9"/>
          <p:cNvSpPr/>
          <p:nvPr/>
        </p:nvSpPr>
        <p:spPr>
          <a:xfrm>
            <a:off x="8503920" y="4681728"/>
            <a:ext cx="731520" cy="329184"/>
          </a:xfrm>
          <a:prstGeom prst="rect">
            <a:avLst/>
          </a:prstGeom>
          <a:solidFill>
            <a:srgbClr val="0E1D12"/>
          </a:solidFill>
          <a:ln cap="flat" cmpd="sng" w="12700">
            <a:solidFill>
              <a:srgbClr val="7A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7AC74F"/>
                </a:solidFill>
                <a:latin typeface="Play"/>
                <a:ea typeface="Play"/>
                <a:cs typeface="Play"/>
                <a:sym typeface="Play"/>
              </a:rPr>
              <a:t>OK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3" name="Google Shape;493;p9"/>
          <p:cNvCxnSpPr/>
          <p:nvPr/>
        </p:nvCxnSpPr>
        <p:spPr>
          <a:xfrm>
            <a:off x="777240" y="5184648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D34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4" name="Google Shape;494;p9"/>
          <p:cNvSpPr/>
          <p:nvPr/>
        </p:nvSpPr>
        <p:spPr>
          <a:xfrm>
            <a:off x="777240" y="5687568"/>
            <a:ext cx="7040880" cy="502920"/>
          </a:xfrm>
          <a:prstGeom prst="rect">
            <a:avLst/>
          </a:prstGeom>
          <a:solidFill>
            <a:srgbClr val="050605"/>
          </a:solidFill>
          <a:ln cap="flat" cmpd="sng" w="12700">
            <a:solidFill>
              <a:srgbClr val="6069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7AC74F"/>
                </a:solidFill>
                <a:latin typeface="Consolas"/>
                <a:ea typeface="Consolas"/>
                <a:cs typeface="Consolas"/>
                <a:sym typeface="Consolas"/>
              </a:rPr>
              <a:t>&gt; DEPLOYMENT READY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7AC74F"/>
                </a:solidFill>
                <a:latin typeface="Consolas"/>
                <a:ea typeface="Consolas"/>
                <a:cs typeface="Consolas"/>
                <a:sym typeface="Consolas"/>
              </a:rPr>
              <a:t>&gt; ultima fase: integrazione continua e test di collaudo pianificati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0A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0"/>
          <p:cNvSpPr/>
          <p:nvPr/>
        </p:nvSpPr>
        <p:spPr>
          <a:xfrm>
            <a:off x="320040" y="146304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FICSIT PROPERTY - DO NOT DUPLICATE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0"/>
          <p:cNvSpPr/>
          <p:nvPr/>
        </p:nvSpPr>
        <p:spPr>
          <a:xfrm>
            <a:off x="7315200" y="109728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7A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7A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10652760" y="731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D3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D3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FF7A00"/>
          </a:solidFill>
          <a:ln cap="flat" cmpd="sng" w="12700">
            <a:solidFill>
              <a:srgbClr val="FF7A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0"/>
          <p:cNvSpPr/>
          <p:nvPr/>
        </p:nvSpPr>
        <p:spPr>
          <a:xfrm>
            <a:off x="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0"/>
          <p:cNvSpPr/>
          <p:nvPr/>
        </p:nvSpPr>
        <p:spPr>
          <a:xfrm>
            <a:off x="457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0"/>
          <p:cNvSpPr/>
          <p:nvPr/>
        </p:nvSpPr>
        <p:spPr>
          <a:xfrm>
            <a:off x="914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0"/>
          <p:cNvSpPr/>
          <p:nvPr/>
        </p:nvSpPr>
        <p:spPr>
          <a:xfrm>
            <a:off x="1371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0"/>
          <p:cNvSpPr/>
          <p:nvPr/>
        </p:nvSpPr>
        <p:spPr>
          <a:xfrm>
            <a:off x="1828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0"/>
          <p:cNvSpPr/>
          <p:nvPr/>
        </p:nvSpPr>
        <p:spPr>
          <a:xfrm>
            <a:off x="2286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0"/>
          <p:cNvSpPr/>
          <p:nvPr/>
        </p:nvSpPr>
        <p:spPr>
          <a:xfrm>
            <a:off x="27432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0"/>
          <p:cNvSpPr/>
          <p:nvPr/>
        </p:nvSpPr>
        <p:spPr>
          <a:xfrm>
            <a:off x="32004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0"/>
          <p:cNvSpPr/>
          <p:nvPr/>
        </p:nvSpPr>
        <p:spPr>
          <a:xfrm>
            <a:off x="36576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0"/>
          <p:cNvSpPr/>
          <p:nvPr/>
        </p:nvSpPr>
        <p:spPr>
          <a:xfrm>
            <a:off x="41148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0"/>
          <p:cNvSpPr/>
          <p:nvPr/>
        </p:nvSpPr>
        <p:spPr>
          <a:xfrm>
            <a:off x="45720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0"/>
          <p:cNvSpPr/>
          <p:nvPr/>
        </p:nvSpPr>
        <p:spPr>
          <a:xfrm>
            <a:off x="5029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0"/>
          <p:cNvSpPr/>
          <p:nvPr/>
        </p:nvSpPr>
        <p:spPr>
          <a:xfrm>
            <a:off x="5486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0"/>
          <p:cNvSpPr/>
          <p:nvPr/>
        </p:nvSpPr>
        <p:spPr>
          <a:xfrm>
            <a:off x="5943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0"/>
          <p:cNvSpPr/>
          <p:nvPr/>
        </p:nvSpPr>
        <p:spPr>
          <a:xfrm>
            <a:off x="6400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0"/>
          <p:cNvSpPr/>
          <p:nvPr/>
        </p:nvSpPr>
        <p:spPr>
          <a:xfrm>
            <a:off x="6858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0"/>
          <p:cNvSpPr/>
          <p:nvPr/>
        </p:nvSpPr>
        <p:spPr>
          <a:xfrm>
            <a:off x="73152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0"/>
          <p:cNvSpPr/>
          <p:nvPr/>
        </p:nvSpPr>
        <p:spPr>
          <a:xfrm>
            <a:off x="77724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0"/>
          <p:cNvSpPr/>
          <p:nvPr/>
        </p:nvSpPr>
        <p:spPr>
          <a:xfrm>
            <a:off x="82296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0"/>
          <p:cNvSpPr/>
          <p:nvPr/>
        </p:nvSpPr>
        <p:spPr>
          <a:xfrm>
            <a:off x="86868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0"/>
          <p:cNvSpPr/>
          <p:nvPr/>
        </p:nvSpPr>
        <p:spPr>
          <a:xfrm>
            <a:off x="91440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0"/>
          <p:cNvSpPr/>
          <p:nvPr/>
        </p:nvSpPr>
        <p:spPr>
          <a:xfrm>
            <a:off x="96012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0"/>
          <p:cNvSpPr/>
          <p:nvPr/>
        </p:nvSpPr>
        <p:spPr>
          <a:xfrm>
            <a:off x="100584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0"/>
          <p:cNvSpPr/>
          <p:nvPr/>
        </p:nvSpPr>
        <p:spPr>
          <a:xfrm>
            <a:off x="105156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0"/>
          <p:cNvSpPr/>
          <p:nvPr/>
        </p:nvSpPr>
        <p:spPr>
          <a:xfrm>
            <a:off x="10972800" y="6675120"/>
            <a:ext cx="237744" cy="109728"/>
          </a:xfrm>
          <a:prstGeom prst="rect">
            <a:avLst/>
          </a:prstGeom>
          <a:solidFill>
            <a:srgbClr val="FFD300"/>
          </a:solidFill>
          <a:ln cap="flat" cmpd="sng" w="12700">
            <a:solidFill>
              <a:srgbClr val="FFD3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0"/>
          <p:cNvSpPr/>
          <p:nvPr/>
        </p:nvSpPr>
        <p:spPr>
          <a:xfrm>
            <a:off x="11430000" y="6675120"/>
            <a:ext cx="237744" cy="10972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0"/>
          <p:cNvSpPr/>
          <p:nvPr/>
        </p:nvSpPr>
        <p:spPr>
          <a:xfrm>
            <a:off x="320040" y="6419088"/>
            <a:ext cx="4114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BONOBO EXPRESS // AUTOMATED FOOD HUB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0"/>
          <p:cNvSpPr/>
          <p:nvPr/>
        </p:nvSpPr>
        <p:spPr>
          <a:xfrm>
            <a:off x="731520" y="914400"/>
            <a:ext cx="11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3100"/>
              <a:buFont typeface="Play"/>
              <a:buNone/>
            </a:pPr>
            <a:r>
              <a:rPr b="1" i="0" lang="en-US" sz="3100" u="none" cap="none" strike="noStrike">
                <a:solidFill>
                  <a:srgbClr val="7AC74F"/>
                </a:solidFill>
                <a:latin typeface="Play"/>
                <a:ea typeface="Play"/>
                <a:cs typeface="Play"/>
                <a:sym typeface="Play"/>
              </a:rPr>
              <a:t>[ ✓ ]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0"/>
          <p:cNvSpPr/>
          <p:nvPr/>
        </p:nvSpPr>
        <p:spPr>
          <a:xfrm>
            <a:off x="731520" y="1600200"/>
            <a:ext cx="6400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4900"/>
              <a:buFont typeface="Play"/>
              <a:buNone/>
            </a:pPr>
            <a:r>
              <a:rPr b="1" i="0" lang="en-US" sz="4900" u="none" cap="none" strike="noStrike">
                <a:solidFill>
                  <a:srgbClr val="F3F4ED"/>
                </a:solidFill>
                <a:latin typeface="Play"/>
                <a:ea typeface="Play"/>
                <a:cs typeface="Play"/>
                <a:sym typeface="Play"/>
              </a:rPr>
              <a:t>EFFICIENZA</a:t>
            </a:r>
            <a:endParaRPr b="0" i="0" sz="4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ED"/>
              </a:buClr>
              <a:buSzPts val="4900"/>
              <a:buFont typeface="Play"/>
              <a:buNone/>
            </a:pPr>
            <a:r>
              <a:rPr b="1" i="0" lang="en-US" sz="4900" u="none" cap="none" strike="noStrike">
                <a:solidFill>
                  <a:srgbClr val="F3F4ED"/>
                </a:solidFill>
                <a:latin typeface="Play"/>
                <a:ea typeface="Play"/>
                <a:cs typeface="Play"/>
                <a:sym typeface="Play"/>
              </a:rPr>
              <a:t>RAGGIUNTA</a:t>
            </a:r>
            <a:endParaRPr b="0" i="0" sz="4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0"/>
          <p:cNvSpPr/>
          <p:nvPr/>
        </p:nvSpPr>
        <p:spPr>
          <a:xfrm>
            <a:off x="777240" y="3063240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Bonobo Express: il futuro della ristorazione è automatizzato.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0"/>
          <p:cNvSpPr/>
          <p:nvPr/>
        </p:nvSpPr>
        <p:spPr>
          <a:xfrm>
            <a:off x="777240" y="3913632"/>
            <a:ext cx="5486400" cy="960120"/>
          </a:xfrm>
          <a:prstGeom prst="rect">
            <a:avLst/>
          </a:prstGeom>
          <a:solidFill>
            <a:srgbClr val="050605"/>
          </a:solidFill>
          <a:ln cap="flat" cmpd="sng" w="12700">
            <a:solidFill>
              <a:srgbClr val="6069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380"/>
              <a:buFont typeface="Consolas"/>
              <a:buNone/>
            </a:pPr>
            <a:r>
              <a:rPr b="0" i="0" lang="en-US" sz="1380" u="none" cap="none" strike="noStrike">
                <a:solidFill>
                  <a:srgbClr val="7AC74F"/>
                </a:solidFill>
                <a:latin typeface="Consolas"/>
                <a:ea typeface="Consolas"/>
                <a:cs typeface="Consolas"/>
                <a:sym typeface="Consolas"/>
              </a:rPr>
              <a:t>&gt; BUILD COMPLETE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380"/>
              <a:buFont typeface="Consolas"/>
              <a:buNone/>
            </a:pPr>
            <a:r>
              <a:rPr b="0" i="0" lang="en-US" sz="1380" u="none" cap="none" strike="noStrike">
                <a:solidFill>
                  <a:srgbClr val="7AC74F"/>
                </a:solidFill>
                <a:latin typeface="Consolas"/>
                <a:ea typeface="Consolas"/>
                <a:cs typeface="Consolas"/>
                <a:sym typeface="Consolas"/>
              </a:rPr>
              <a:t>&gt; CUSTOMER FLOW: prenota → ordina → recensisce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C74F"/>
              </a:buClr>
              <a:buSzPts val="1380"/>
              <a:buFont typeface="Consolas"/>
              <a:buNone/>
            </a:pPr>
            <a:r>
              <a:rPr b="0" i="0" lang="en-US" sz="1380" u="none" cap="none" strike="noStrike">
                <a:solidFill>
                  <a:srgbClr val="7AC74F"/>
                </a:solidFill>
                <a:latin typeface="Consolas"/>
                <a:ea typeface="Consolas"/>
                <a:cs typeface="Consolas"/>
                <a:sym typeface="Consolas"/>
              </a:rPr>
              <a:t>&gt; ADMIN FLOW: controlla → aggiorna → ottimizza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0"/>
          <p:cNvSpPr/>
          <p:nvPr/>
        </p:nvSpPr>
        <p:spPr>
          <a:xfrm>
            <a:off x="7406640" y="2103120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7A00"/>
              </a:buClr>
              <a:buSzPts val="4800"/>
              <a:buFont typeface="Play"/>
              <a:buNone/>
            </a:pPr>
            <a:r>
              <a:rPr b="1" i="0" lang="en-US" sz="4800" u="none" cap="none" strike="noStrike">
                <a:solidFill>
                  <a:srgbClr val="FF7A00"/>
                </a:solidFill>
                <a:latin typeface="Play"/>
                <a:ea typeface="Play"/>
                <a:cs typeface="Play"/>
                <a:sym typeface="Play"/>
              </a:rPr>
              <a:t>FICSIT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0"/>
          <p:cNvSpPr/>
          <p:nvPr/>
        </p:nvSpPr>
        <p:spPr>
          <a:xfrm>
            <a:off x="6583680" y="3822192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D300"/>
              </a:buClr>
              <a:buSzPts val="2300"/>
              <a:buFont typeface="Play"/>
              <a:buNone/>
            </a:pPr>
            <a:r>
              <a:rPr b="0" i="1" lang="en-US" sz="2300" u="none" cap="none" strike="noStrike">
                <a:solidFill>
                  <a:srgbClr val="FFD300"/>
                </a:solidFill>
                <a:latin typeface="Play"/>
                <a:ea typeface="Play"/>
                <a:cs typeface="Play"/>
                <a:sym typeface="Play"/>
              </a:rPr>
              <a:t>“Costruisci. Ottimizza. Mangia.”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0"/>
          <p:cNvSpPr/>
          <p:nvPr/>
        </p:nvSpPr>
        <p:spPr>
          <a:xfrm>
            <a:off x="6629400" y="4800600"/>
            <a:ext cx="4526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0A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0A3"/>
                </a:solidFill>
                <a:latin typeface="Arial"/>
                <a:ea typeface="Arial"/>
                <a:cs typeface="Arial"/>
                <a:sym typeface="Arial"/>
              </a:rPr>
              <a:t>UNITÀ OPERATIVA PIONEER // BONOBO EXPRESS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2026-06-25T12:07:42Z</dcterms:created>
  <dc:creator>OpenAI</dc:creator>
</cp:coreProperties>
</file>